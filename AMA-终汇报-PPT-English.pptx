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bg><p:bgPr><a:solidFill><a:srgbClr val="002050"/></a:solidFill><a:effectLst/></p:bgPr></p:bg><p:spTree><p:nvGrpSpPr><p:cNvPr id="1" name=""/><p:cNvGrpSpPr/><p:nvPr/></p:nvGrpSpPr><p:grpSpPr/><p:sp><p:nvSpPr><p:cNvPr id="2" name="Rectangle 1"/><p:cNvSpPr/><p:nvPr/></p:nvSpPr><p:spPr><a:xfrm><a:off x="0" y="0"/><a:ext cx="12191695" cy="73152"/></a:xfrm><a:prstGeom prst="rect"><a:avLst/></a:prstGeom><a:solidFill><a:srgbClr val="FFD700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914400" y="1645920"/><a:ext cx="10332720" cy="1097280"/></a:xfrm><a:prstGeom prst="rect"><a:avLst/></a:prstGeom><a:noFill/></p:spPr><p:txBody><a:bodyPr wrap="square"><a:spAutoFit/></a:bodyPr><a:lstStyle/><a:p><a:pPr algn="ctr"><a:defRPr sz="4200" b="1"><a:solidFill><a:srgbClr val="FFFFFF"/></a:solidFill><a:latin typeface="Microsoft YaHei"/></a:defRPr></a:pPr><a:r><a:t>Autonomous Retail Intelligence</a:t></a:r><a:br/><a:r><a:t>Agent Platform</a:t></a:r></a:p></p:txBody></p:sp><p:sp><p:nvSpPr><p:cNvPr id="4" name="TextBox 3"/><p:cNvSpPr txBox="1"/><p:nvPr/></p:nvSpPr><p:spPr><a:xfrm><a:off x="914400" y="3017520"/><a:ext cx="10332720" cy="731520"/></a:xfrm><a:prstGeom prst="rect"><a:avLst/></a:prstGeom><a:noFill/></p:spPr><p:txBody><a:bodyPr wrap="square"><a:spAutoFit/></a:bodyPr><a:lstStyle/><a:p><a:pPr algn="ctr"><a:defRPr sz="2400" b="0"><a:solidFill><a:srgbClr val="FFD700"/></a:solidFill><a:latin typeface="Microsoft YaHei"/></a:defRPr></a:pPr><a:r><a:t>Multi-Agent Intelligent Retail Platform Based on Uniqlo</a:t></a:r></a:p></p:txBody></p:sp><p:sp><p:nvSpPr><p:cNvPr id="5" name="Rectangle 4"/><p:cNvSpPr/><p:nvPr/></p:nvSpPr><p:spPr><a:xfrm><a:off x="4572000" y="3931920"/><a:ext cx="3017520" cy="36576"/></a:xfrm><a:prstGeom prst="rect"><a:avLst/></a:prstGeom><a:solidFill><a:srgbClr val="FFD700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6" name="TextBox 5"/><p:cNvSpPr txBox="1"/><p:nvPr/></p:nvSpPr><p:spPr><a:xfrm><a:off x="914400" y="4389120"/><a:ext cx="10332720" cy="1371600"/></a:xfrm><a:prstGeom prst="rect"><a:avLst/></a:prstGeom><a:noFill/></p:spPr><p:txBody><a:bodyPr wrap="square"><a:spAutoFit/></a:bodyPr><a:lstStyle/><a:p><a:pPr algn="ctr"><a:spcAft><a:spcPts val="720"/></a:spcAft><a:defRPr sz="1800" b="0"><a:solidFill><a:srgbClr val="CCCCCC"/></a:solidFill><a:latin typeface="Microsoft YaHei"/></a:defRPr></a:pPr><a:r><a:t>Presenter: Yuan Wang  Senior Solution Engineer, Azure & AI Platform</a:t></a:r></a:p><a:p><a:pPr algn="ctr"><a:spcAft><a:spcPts val="720"/></a:spcAft><a:defRPr sz="1800" b="0"><a:solidFill><a:srgbClr val="CCCCCC"/></a:solidFill><a:latin typeface="Microsoft YaHei"/></a:defRPr></a:pPr><a:r><a:t>AMA Capstone Project  |  Project 46</a:t></a:r></a:p></p:txBody></p:sp><p:sp><p:nvSpPr><p:cNvPr id="7" name="Rectangle 6"/><p:cNvSpPr/><p:nvPr/></p:nvSpPr><p:spPr><a:xfrm><a:off x="0" y="6784848"/><a:ext cx="12191695" cy="73152"/></a:xfrm><a:prstGeom prst="rect"><a:avLst/></a:prstGeom><a:solidFill><a:srgbClr val="FFD700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/p:spTree></p:cSld><p:clrMapOvr><a:masterClrMapping/></p:clrMapOvr></p:sld>
</file>

<file path=ppt/slides/slide2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bg><p:bgPr><a:solidFill><a:srgbClr val="FFFFFF"/></a:solidFill><a:effectLst/></p:bgPr></p:bg><p:spTree><p:nvGrpSpPr><p:cNvPr id="1" name=""/><p:cNvGrpSpPr/><p:nvPr/></p:nvGrpSpPr><p:grpSpPr/><p:sp><p:nvSpPr><p:cNvPr id="2" name="Rectangle 1"/><p:cNvSpPr/><p:nvPr/></p:nvSpPr><p:spPr><a:xfrm><a:off x="0" y="0"/><a:ext cx="12191695" cy="1188720"/></a:xfrm><a:prstGeom prst="rect"><a:avLst/></a:prstGeom><a:solidFill><a:srgbClr val="002050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Rectangle 2"/><p:cNvSpPr/><p:nvPr/></p:nvSpPr><p:spPr><a:xfrm><a:off x="0" y="1188720"/><a:ext cx="12191695" cy="54864"/></a:xfrm><a:prstGeom prst="rect"><a:avLst/></a:prstGeom><a:solidFill><a:srgbClr val="FFD700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4" name="TextBox 3"/><p:cNvSpPr txBox="1"/><p:nvPr/></p:nvSpPr><p:spPr><a:xfrm><a:off x="731520" y="228600"/><a:ext cx="10058400" cy="640080"/></a:xfrm><a:prstGeom prst="rect"><a:avLst/></a:prstGeom><a:noFill/></p:spPr><p:txBody><a:bodyPr wrap="square"><a:spAutoFit/></a:bodyPr><a:lstStyle/><a:p><a:pPr algn="l"><a:defRPr sz="3000" b="1"><a:solidFill><a:srgbClr val="FFFFFF"/></a:solidFill><a:latin typeface="Microsoft YaHei"/></a:defRPr></a:pPr><a:r><a:t>Agenda</a:t></a:r></a:p></p:txBody></p:sp><p:sp><p:nvSpPr><p:cNvPr id="5" name="TextBox 4"/><p:cNvSpPr txBox="1"/><p:nvPr/></p:nvSpPr><p:spPr><a:xfrm><a:off x="1371600" y="1554480"/><a:ext cx="731520" cy="411480"/></a:xfrm><a:prstGeom prst="rect"><a:avLst/></a:prstGeom><a:noFill/></p:spPr><p:txBody><a:bodyPr wrap="square"><a:spAutoFit/></a:bodyPr><a:lstStyle/><a:p><a:pPr algn="l"><a:defRPr sz="2000" b="1"><a:solidFill><a:srgbClr val="FFD700"/></a:solidFill><a:latin typeface="Microsoft YaHei"/></a:defRPr></a:pPr><a:r><a:t>01</a:t></a:r></a:p></p:txBody></p:sp><p:sp><p:nvSpPr><p:cNvPr id="6" name="Rectangle 5"/><p:cNvSpPr/><p:nvPr/></p:nvSpPr><p:spPr><a:xfrm><a:off x="2103120" y="1719072"/><a:ext cx="109728" cy="109728"/></a:xfrm><a:prstGeom prst="rect"><a:avLst/></a:prstGeom><a:solidFill><a:srgbClr val="002050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7" name="TextBox 6"/><p:cNvSpPr txBox="1"/><p:nvPr/></p:nvSpPr><p:spPr><a:xfrm><a:off x="2377440" y="1554480"/><a:ext cx="7315200" cy="411480"/></a:xfrm><a:prstGeom prst="rect"><a:avLst/></a:prstGeom><a:noFill/></p:spPr><p:txBody><a:bodyPr wrap="square"><a:spAutoFit/></a:bodyPr><a:lstStyle/><a:p><a:pPr algn="l"><a:defRPr sz="2000" b="0"><a:solidFill><a:srgbClr val="333333"/></a:solidFill><a:latin typeface="Microsoft YaHei"/></a:defRPr></a:pPr><a:r><a:t>Project Background & Challenges</a:t></a:r></a:p></p:txBody></p:sp><p:sp><p:nvSpPr><p:cNvPr id="8" name="TextBox 7"/><p:cNvSpPr txBox="1"/><p:nvPr/></p:nvSpPr><p:spPr><a:xfrm><a:off x="1371600" y="2029967"/><a:ext cx="731520" cy="411480"/></a:xfrm><a:prstGeom prst="rect"><a:avLst/></a:prstGeom><a:noFill/></p:spPr><p:txBody><a:bodyPr wrap="square"><a:spAutoFit/></a:bodyPr><a:lstStyle/><a:p><a:pPr algn="l"><a:defRPr sz="2000" b="1"><a:solidFill><a:srgbClr val="FFD700"/></a:solidFill><a:latin typeface="Microsoft YaHei"/></a:defRPr></a:pPr><a:r><a:t>02</a:t></a:r></a:p></p:txBody></p:sp><p:sp><p:nvSpPr><p:cNvPr id="9" name="Rectangle 8"/><p:cNvSpPr/><p:nvPr/></p:nvSpPr><p:spPr><a:xfrm><a:off x="2103120" y="2194559"/><a:ext cx="109728" cy="109728"/></a:xfrm><a:prstGeom prst="rect"><a:avLst/></a:prstGeom><a:solidFill><a:srgbClr val="002050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0" name="TextBox 9"/><p:cNvSpPr txBox="1"/><p:nvPr/></p:nvSpPr><p:spPr><a:xfrm><a:off x="2377440" y="2029967"/><a:ext cx="7315200" cy="411480"/></a:xfrm><a:prstGeom prst="rect"><a:avLst/></a:prstGeom><a:noFill/></p:spPr><p:txBody><a:bodyPr wrap="square"><a:spAutoFit/></a:bodyPr><a:lstStyle/><a:p><a:pPr algn="l"><a:defRPr sz="2000" b="0"><a:solidFill><a:srgbClr val="333333"/></a:solidFill><a:latin typeface="Microsoft YaHei"/></a:defRPr></a:pPr><a:r><a:t>Solution Overview</a:t></a:r></a:p></p:txBody></p:sp><p:sp><p:nvSpPr><p:cNvPr id="11" name="TextBox 10"/><p:cNvSpPr txBox="1"/><p:nvPr/></p:nvSpPr><p:spPr><a:xfrm><a:off x="1371600" y="2505456"/><a:ext cx="731520" cy="411480"/></a:xfrm><a:prstGeom prst="rect"><a:avLst/></a:prstGeom><a:noFill/></p:spPr><p:txBody><a:bodyPr wrap="square"><a:spAutoFit/></a:bodyPr><a:lstStyle/><a:p><a:pPr algn="l"><a:defRPr sz="2000" b="1"><a:solidFill><a:srgbClr val="FFD700"/></a:solidFill><a:latin typeface="Microsoft YaHei"/></a:defRPr></a:pPr><a:r><a:t>03</a:t></a:r></a:p></p:txBody></p:sp><p:sp><p:nvSpPr><p:cNvPr id="12" name="Rectangle 11"/><p:cNvSpPr/><p:nvPr/></p:nvSpPr><p:spPr><a:xfrm><a:off x="2103120" y="2670048"/><a:ext cx="109728" cy="109728"/></a:xfrm><a:prstGeom prst="rect"><a:avLst/></a:prstGeom><a:solidFill><a:srgbClr val="002050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3" name="TextBox 12"/><p:cNvSpPr txBox="1"/><p:nvPr/></p:nvSpPr><p:spPr><a:xfrm><a:off x="2377440" y="2505456"/><a:ext cx="7315200" cy="411480"/></a:xfrm><a:prstGeom prst="rect"><a:avLst/></a:prstGeom><a:noFill/></p:spPr><p:txBody><a:bodyPr wrap="square"><a:spAutoFit/></a:bodyPr><a:lstStyle/><a:p><a:pPr algn="l"><a:defRPr sz="2000" b="0"><a:solidFill><a:srgbClr val="333333"/></a:solidFill><a:latin typeface="Microsoft YaHei"/></a:defRPr></a:pPr><a:r><a:t>5 Agent Architecture Design</a:t></a:r></a:p></p:txBody></p:sp><p:sp><p:nvSpPr><p:cNvPr id="14" name="TextBox 13"/><p:cNvSpPr txBox="1"/><p:nvPr/></p:nvSpPr><p:spPr><a:xfrm><a:off x="1371600" y="2980944"/><a:ext cx="731520" cy="411480"/></a:xfrm><a:prstGeom prst="rect"><a:avLst/></a:prstGeom><a:noFill/></p:spPr><p:txBody><a:bodyPr wrap="square"><a:spAutoFit/></a:bodyPr><a:lstStyle/><a:p><a:pPr algn="l"><a:defRPr sz="2000" b="1"><a:solidFill><a:srgbClr val="FFD700"/></a:solidFill><a:latin typeface="Microsoft YaHei"/></a:defRPr></a:pPr><a:r><a:t>04</a:t></a:r></a:p></p:txBody></p:sp><p:sp><p:nvSpPr><p:cNvPr id="15" name="Rectangle 14"/><p:cNvSpPr/><p:nvPr/></p:nvSpPr><p:spPr><a:xfrm><a:off x="2103120" y="3145536"/><a:ext cx="109728" cy="109728"/></a:xfrm><a:prstGeom prst="rect"><a:avLst/></a:prstGeom><a:solidFill><a:srgbClr val="002050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6" name="TextBox 15"/><p:cNvSpPr txBox="1"/><p:nvPr/></p:nvSpPr><p:spPr><a:xfrm><a:off x="2377440" y="2980944"/><a:ext cx="7315200" cy="411480"/></a:xfrm><a:prstGeom prst="rect"><a:avLst/></a:prstGeom><a:noFill/></p:spPr><p:txBody><a:bodyPr wrap="square"><a:spAutoFit/></a:bodyPr><a:lstStyle/><a:p><a:pPr algn="l"><a:defRPr sz="2000" b="0"><a:solidFill><a:srgbClr val="333333"/></a:solidFill><a:latin typeface="Microsoft YaHei"/></a:defRPr></a:pPr><a:r><a:t>Technical Architecture</a:t></a:r></a:p></p:txBody></p:sp><p:sp><p:nvSpPr><p:cNvPr id="17" name="TextBox 16"/><p:cNvSpPr txBox="1"/><p:nvPr/></p:nvSpPr><p:spPr><a:xfrm><a:off x="1371600" y="3456432"/><a:ext cx="731520" cy="411480"/></a:xfrm><a:prstGeom prst="rect"><a:avLst/></a:prstGeom><a:noFill/></p:spPr><p:txBody><a:bodyPr wrap="square"><a:spAutoFit/></a:bodyPr><a:lstStyle/><a:p><a:pPr algn="l"><a:defRPr sz="2000" b="1"><a:solidFill><a:srgbClr val="FFD700"/></a:solidFill><a:latin typeface="Microsoft YaHei"/></a:defRPr></a:pPr><a:r><a:t>05</a:t></a:r></a:p></p:txBody></p:sp><p:sp><p:nvSpPr><p:cNvPr id="18" name="Rectangle 17"/><p:cNvSpPr/><p:nvPr/></p:nvSpPr><p:spPr><a:xfrm><a:off x="2103120" y="3621024"/><a:ext cx="109728" cy="109728"/></a:xfrm><a:prstGeom prst="rect"><a:avLst/></a:prstGeom><a:solidFill><a:srgbClr val="002050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9" name="TextBox 18"/><p:cNvSpPr txBox="1"/><p:nvPr/></p:nvSpPr><p:spPr><a:xfrm><a:off x="2377440" y="3456432"/><a:ext cx="7315200" cy="411480"/></a:xfrm><a:prstGeom prst="rect"><a:avLst/></a:prstGeom><a:noFill/></p:spPr><p:txBody><a:bodyPr wrap="square"><a:spAutoFit/></a:bodyPr><a:lstStyle/><a:p><a:pPr algn="l"><a:defRPr sz="2000" b="0"><a:solidFill><a:srgbClr val="333333"/></a:solidFill><a:latin typeface="Microsoft YaHei"/></a:defRPr></a:pPr><a:r><a:t>Asia-Specific Considerations</a:t></a:r></a:p></p:txBody></p:sp><p:sp><p:nvSpPr><p:cNvPr id="20" name="TextBox 19"/><p:cNvSpPr txBox="1"/><p:nvPr/></p:nvSpPr><p:spPr><a:xfrm><a:off x="1371600" y="3931920"/><a:ext cx="731520" cy="411480"/></a:xfrm><a:prstGeom prst="rect"><a:avLst/></a:prstGeom><a:noFill/></p:spPr><p:txBody><a:bodyPr wrap="square"><a:spAutoFit/></a:bodyPr><a:lstStyle/><a:p><a:pPr algn="l"><a:defRPr sz="2000" b="1"><a:solidFill><a:srgbClr val="FFD700"/></a:solidFill><a:latin typeface="Microsoft YaHei"/></a:defRPr></a:pPr><a:r><a:t>06</a:t></a:r></a:p></p:txBody></p:sp><p:sp><p:nvSpPr><p:cNvPr id="21" name="Rectangle 20"/><p:cNvSpPr/><p:nvPr/></p:nvSpPr><p:spPr><a:xfrm><a:off x="2103120" y="4096512"/><a:ext cx="109728" cy="109728"/></a:xfrm><a:prstGeom prst="rect"><a:avLst/></a:prstGeom><a:solidFill><a:srgbClr val="002050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22" name="TextBox 21"/><p:cNvSpPr txBox="1"/><p:nvPr/></p:nvSpPr><p:spPr><a:xfrm><a:off x="2377440" y="3931920"/><a:ext cx="7315200" cy="411480"/></a:xfrm><a:prstGeom prst="rect"><a:avLst/></a:prstGeom><a:noFill/></p:spPr><p:txBody><a:bodyPr wrap="square"><a:spAutoFit/></a:bodyPr><a:lstStyle/><a:p><a:pPr algn="l"><a:defRPr sz="2000" b="0"><a:solidFill><a:srgbClr val="333333"/></a:solidFill><a:latin typeface="Microsoft YaHei"/></a:defRPr></a:pPr><a:r><a:t>Business Scenario Demos</a:t></a:r></a:p></p:txBody></p:sp><p:sp><p:nvSpPr><p:cNvPr id="23" name="TextBox 22"/><p:cNvSpPr txBox="1"/><p:nvPr/></p:nvSpPr><p:spPr><a:xfrm><a:off x="1371600" y="4407408"/><a:ext cx="731520" cy="411480"/></a:xfrm><a:prstGeom prst="rect"><a:avLst/></a:prstGeom><a:noFill/></p:spPr><p:txBody><a:bodyPr wrap="square"><a:spAutoFit/></a:bodyPr><a:lstStyle/><a:p><a:pPr algn="l"><a:defRPr sz="2000" b="1"><a:solidFill><a:srgbClr val="FFD700"/></a:solidFill><a:latin typeface="Microsoft YaHei"/></a:defRPr></a:pPr><a:r><a:t>07</a:t></a:r></a:p></p:txBody></p:sp><p:sp><p:nvSpPr><p:cNvPr id="24" name="Rectangle 23"/><p:cNvSpPr/><p:nvPr/></p:nvSpPr><p:spPr><a:xfrm><a:off x="2103120" y="4572000"/><a:ext cx="109728" cy="109728"/></a:xfrm><a:prstGeom prst="rect"><a:avLst/></a:prstGeom><a:solidFill><a:srgbClr val="002050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25" name="TextBox 24"/><p:cNvSpPr txBox="1"/><p:nvPr/></p:nvSpPr><p:spPr><a:xfrm><a:off x="2377440" y="4407408"/><a:ext cx="7315200" cy="411480"/></a:xfrm><a:prstGeom prst="rect"><a:avLst/></a:prstGeom><a:noFill/></p:spPr><p:txBody><a:bodyPr wrap="square"><a:spAutoFit/></a:bodyPr><a:lstStyle/><a:p><a:pPr algn="l"><a:defRPr sz="2000" b="0"><a:solidFill><a:srgbClr val="333333"/></a:solidFill><a:latin typeface="Microsoft YaHei"/></a:defRPr></a:pPr><a:r><a:t>Expected Impact</a:t></a:r></a:p></p:txBody></p:sp><p:sp><p:nvSpPr><p:cNvPr id="26" name="TextBox 25"/><p:cNvSpPr txBox="1"/><p:nvPr/></p:nvSpPr><p:spPr><a:xfrm><a:off x="1371600" y="4882896"/><a:ext cx="731520" cy="411480"/></a:xfrm><a:prstGeom prst="rect"><a:avLst/></a:prstGeom><a:noFill/></p:spPr><p:txBody><a:bodyPr wrap="square"><a:spAutoFit/></a:bodyPr><a:lstStyle/><a:p><a:pPr algn="l"><a:defRPr sz="2000" b="1"><a:solidFill><a:srgbClr val="FFD700"/></a:solidFill><a:latin typeface="Microsoft YaHei"/></a:defRPr></a:pPr><a:r><a:t>08</a:t></a:r></a:p></p:txBody></p:sp><p:sp><p:nvSpPr><p:cNvPr id="27" name="Rectangle 26"/><p:cNvSpPr/><p:nvPr/></p:nvSpPr><p:spPr><a:xfrm><a:off x="2103120" y="5047488"/><a:ext cx="109728" cy="109728"/></a:xfrm><a:prstGeom prst="rect"><a:avLst/></a:prstGeom><a:solidFill><a:srgbClr val="002050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28" name="TextBox 27"/><p:cNvSpPr txBox="1"/><p:nvPr/></p:nvSpPr><p:spPr><a:xfrm><a:off x="2377440" y="4882896"/><a:ext cx="7315200" cy="411480"/></a:xfrm><a:prstGeom prst="rect"><a:avLst/></a:prstGeom><a:noFill/></p:spPr><p:txBody><a:bodyPr wrap="square"><a:spAutoFit/></a:bodyPr><a:lstStyle/><a:p><a:pPr algn="l"><a:defRPr sz="2000" b="0"><a:solidFill><a:srgbClr val="333333"/></a:solidFill><a:latin typeface="Microsoft YaHei"/></a:defRPr></a:pPr><a:r><a:t>Implementation Roadmap</a:t></a:r></a:p></p:txBody></p:sp><p:sp><p:nvSpPr><p:cNvPr id="29" name="TextBox 28"/><p:cNvSpPr txBox="1"/><p:nvPr/></p:nvSpPr><p:spPr><a:xfrm><a:off x="1371600" y="5358384"/><a:ext cx="731520" cy="411480"/></a:xfrm><a:prstGeom prst="rect"><a:avLst/></a:prstGeom><a:noFill/></p:spPr><p:txBody><a:bodyPr wrap="square"><a:spAutoFit/></a:bodyPr><a:lstStyle/><a:p><a:pPr algn="l"><a:defRPr sz="2000" b="1"><a:solidFill><a:srgbClr val="FFD700"/></a:solidFill><a:latin typeface="Microsoft YaHei"/></a:defRPr></a:pPr><a:r><a:t>09</a:t></a:r></a:p></p:txBody></p:sp><p:sp><p:nvSpPr><p:cNvPr id="30" name="Rectangle 29"/><p:cNvSpPr/><p:nvPr/></p:nvSpPr><p:spPr><a:xfrm><a:off x="2103120" y="5522976"/><a:ext cx="109728" cy="109728"/></a:xfrm><a:prstGeom prst="rect"><a:avLst/></a:prstGeom><a:solidFill><a:srgbClr val="002050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1" name="TextBox 30"/><p:cNvSpPr txBox="1"/><p:nvPr/></p:nvSpPr><p:spPr><a:xfrm><a:off x="2377440" y="5358384"/><a:ext cx="7315200" cy="411480"/></a:xfrm><a:prstGeom prst="rect"><a:avLst/></a:prstGeom><a:noFill/></p:spPr><p:txBody><a:bodyPr wrap="square"><a:spAutoFit/></a:bodyPr><a:lstStyle/><a:p><a:pPr algn="l"><a:defRPr sz="2000" b="0"><a:solidFill><a:srgbClr val="333333"/></a:solidFill><a:latin typeface="Microsoft YaHei"/></a:defRPr></a:pPr><a:r><a:t>Risks & Mitigations</a:t></a:r></a:p></p:txBody></p:sp><p:sp><p:nvSpPr><p:cNvPr id="32" name="TextBox 31"/><p:cNvSpPr txBox="1"/><p:nvPr/></p:nvSpPr><p:spPr><a:xfrm><a:off x="1371600" y="5833872"/><a:ext cx="731520" cy="411480"/></a:xfrm><a:prstGeom prst="rect"><a:avLst/></a:prstGeom><a:noFill/></p:spPr><p:txBody><a:bodyPr wrap="square"><a:spAutoFit/></a:bodyPr><a:lstStyle/><a:p><a:pPr algn="l"><a:defRPr sz="2000" b="1"><a:solidFill><a:srgbClr val="FFD700"/></a:solidFill><a:latin typeface="Microsoft YaHei"/></a:defRPr></a:pPr><a:r><a:t>10</a:t></a:r></a:p></p:txBody></p:sp><p:sp><p:nvSpPr><p:cNvPr id="33" name="Rectangle 32"/><p:cNvSpPr/><p:nvPr/></p:nvSpPr><p:spPr><a:xfrm><a:off x="2103120" y="5998464"/><a:ext cx="109728" cy="109728"/></a:xfrm><a:prstGeom prst="rect"><a:avLst/></a:prstGeom><a:solidFill><a:srgbClr val="002050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4" name="TextBox 33"/><p:cNvSpPr txBox="1"/><p:nvPr/></p:nvSpPr><p:spPr><a:xfrm><a:off x="2377440" y="5833872"/><a:ext cx="7315200" cy="411480"/></a:xfrm><a:prstGeom prst="rect"><a:avLst/></a:prstGeom><a:noFill/></p:spPr><p:txBody><a:bodyPr wrap="square"><a:spAutoFit/></a:bodyPr><a:lstStyle/><a:p><a:pPr algn="l"><a:defRPr sz="2000" b="0"><a:solidFill><a:srgbClr val="333333"/></a:solidFill><a:latin typeface="Microsoft YaHei"/></a:defRPr></a:pPr><a:r><a:t>Q&amp;A</a:t></a:r></a:p></p:txBody></p:sp><p:sp><p:nvSpPr><p:cNvPr id="35" name="TextBox 34"/><p:cNvSpPr txBox="1"/><p:nvPr/></p:nvSpPr><p:spPr><a:xfrm><a:off x="11247120" y="6400800"/><a:ext cx="731520" cy="365760"/></a:xfrm><a:prstGeom prst="rect"><a:avLst/></a:prstGeom><a:noFill/></p:spPr><p:txBody><a:bodyPr wrap="square"><a:spAutoFit/></a:bodyPr><a:lstStyle/><a:p><a:pPr algn="r"><a:defRPr sz="1000" b="0"><a:solidFill><a:srgbClr val="999999"/></a:solidFill><a:latin typeface="Microsoft YaHei"/></a:defRPr></a:pPr><a:r><a:t>2</a:t></a:r></a:p></p:txBody></p:sp></p:spTree></p:cSld><p:clrMapOvr><a:masterClrMapping/></p:clrMapOvr>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Project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Global retail faces digital transformation; traditional models are unsustainable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Uniqlo (Fast Retailing): 3,500+ global stores, 1.3B units annual production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Core Pain Point: Data Silos → Channels cannot share data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Core Pain Point: Insufficient personalization → One-size-fits-all experience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Core Pain Point: Inventory Waste → Industry avg waste rate &gt;30%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Core Pain Point: Pricing Lag → Cannot respond quickly to market 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Business Challenges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411480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0" y="2194560"/>
            <a:ext cx="914400" cy="9144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3317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2050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50"/>
                </a:solidFill>
                <a:latin typeface="Microsoft YaHei"/>
              </a:defRPr>
            </a:pPr>
            <a:r>
              <a:t>Data Silos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Customer data scattered across App, stores, e-commerce, social media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828800"/>
            <a:ext cx="2560320" cy="411480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89120" y="2194560"/>
            <a:ext cx="914400" cy="9144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3317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2050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50"/>
                </a:solidFill>
                <a:latin typeface="Microsoft YaHei"/>
              </a:defRPr>
            </a:pPr>
            <a:r>
              <a:t>Inventory Waste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93192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Industry avg waste rate 30%+, billions in annual losses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828800"/>
            <a:ext cx="2560320" cy="411480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23760" y="2194560"/>
            <a:ext cx="914400" cy="9144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3317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2050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50"/>
                </a:solidFill>
                <a:latin typeface="Microsoft YaHei"/>
              </a:defRPr>
            </a:pPr>
            <a:r>
              <a:t>Pricing Lag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93192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Pricing strategy cannot respond to market changes in real-time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828800"/>
            <a:ext cx="2560320" cy="411480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58400" y="2194560"/>
            <a:ext cx="914400" cy="9144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233172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205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50"/>
                </a:solidFill>
                <a:latin typeface="Microsoft YaHei"/>
              </a:defRPr>
            </a:pPr>
            <a:r>
              <a:t>Inefficient Marketing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93192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Marketing lacks precise targeting, ROI difficult to measure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Solution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5 AI Agents collaborating, covering the full retail chain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Unified customer data platform connecting App / Store / E-commerce / Social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Autonomous decisions + human approval, balancing efficiency and risk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Azure full-stack, enterprise-grade security and scalability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Deep Asia market adaptation (privacy, payments, e-commerce ecosystem)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5 Agent Architecture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011680" cy="164592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Customer</a:t>
            </a:r>
            <a:br/>
            <a:r>
              <a:t>Understanding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700"/>
                </a:solidFill>
                <a:latin typeface="Microsoft YaHei"/>
              </a:defRPr>
            </a:pPr>
            <a:r>
              <a:t>Customer Understanding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011680"/>
            <a:ext cx="2011680" cy="164592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2860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Personalization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700"/>
                </a:solidFill>
                <a:latin typeface="Microsoft YaHei"/>
              </a:defRPr>
            </a:pPr>
            <a:r>
              <a:t>Personalization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011680"/>
            <a:ext cx="2011680" cy="164592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22860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700"/>
                </a:solidFill>
                <a:latin typeface="Microsoft YaHei"/>
              </a:defRPr>
            </a:pPr>
            <a:r>
              <a:t>Inventory Management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011680"/>
            <a:ext cx="2011680" cy="164592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22860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Pricing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700"/>
                </a:solidFill>
                <a:latin typeface="Microsoft YaHei"/>
              </a:defRPr>
            </a:pPr>
            <a:r>
              <a:t>Dynamic Pricing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2011680"/>
            <a:ext cx="2011680" cy="164592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22860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Marketing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700"/>
                </a:solidFill>
                <a:latin typeface="Microsoft YaHei"/>
              </a:defRPr>
            </a:pPr>
            <a:r>
              <a:t>Marketing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468880" y="2560320"/>
            <a:ext cx="731520" cy="45720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4754880" y="2560320"/>
            <a:ext cx="731520" cy="45720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7040880" y="2560320"/>
            <a:ext cx="731520" cy="45720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9326880" y="2560320"/>
            <a:ext cx="731520" cy="45720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14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4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Data Flow: Customer Understanding → Personalization → Inventory / Pricing / Marketing</a:t>
            </a:r>
          </a:p>
          <a:p>
            <a:pPr algn="l">
              <a:spcAft>
                <a:spcPts val="64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Collaboration: Synchronous (REST API) + Async Events (Event Hubs)</a:t>
            </a:r>
          </a:p>
          <a:p>
            <a:pPr algn="l">
              <a:spcAft>
                <a:spcPts val="64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State Sharing: Cosmos DB unified state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Customer Understanding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Microsoft YaHei"/>
              </a:defRPr>
            </a:pPr>
            <a:r>
              <a:t>Build 360° Customer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Role: Build 360° customer view, unify multi-channel data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Tech: Synthetic Persona + Agent Memory + Vector Search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Input: App behavior / Store RFID / E-commerce orders / Membership data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Output: Unified persona + Behavior prediction + Churn warning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5029200" cy="411480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50"/>
                </a:solidFill>
                <a:latin typeface="Microsoft YaHei"/>
              </a:defRPr>
            </a:pPr>
            <a:r>
              <a:t>Core 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Synthetic Persona solves cold start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Agent Memory enables cross-session memory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Vector search enables semantic customer matching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Real-time behavior tracking and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Personalization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Microsoft YaHei"/>
              </a:defRPr>
            </a:pPr>
            <a:r>
              <a:t>Cross-Channel Personalized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Role: Cross-channel personalized recommendations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Tech: U-A-L Triad + Hybrid AI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Input: Customer persona + Real-time behavior + Inventory data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Output: Personalized recommendations + Next best 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5029200" cy="411480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50"/>
                </a:solidFill>
                <a:latin typeface="Microsoft YaHei"/>
              </a:defRPr>
            </a:pPr>
            <a:r>
              <a:t>U-A-L Triad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Understanding: Deep customer intent comprehension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Action: Intelligent next action recommendation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Learning: Continuous learning to optimize recommendations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Hybrid AI: Rules engine + deep learning fusion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Inventory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Microsoft YaHei"/>
              </a:defRPr>
            </a:pPr>
            <a:r>
              <a:t>Demand Forecasting + Auto-Replenishment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Role: Demand forecasting + auto-replenishment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Tech: Prophet + LSTM hybrid prediction model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Input: Historical sales / Weather / Promotions / Competition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Output: 7-day demand forecast + replenishment suggestions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5029200" cy="411480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50"/>
                </a:solidFill>
                <a:latin typeface="Microsoft YaHei"/>
              </a:defRPr>
            </a:pPr>
            <a:r>
              <a:t>Prediction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Prophet: Captures seasonality and trends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LSTM: Learns complex non-linear patterns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Hybrid model: Balances accuracy and interpretability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Real-time: Weather/event triggers re-prediction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Pricing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Microsoft YaHei"/>
              </a:defRPr>
            </a:pPr>
            <a:r>
              <a:t>Dynamic Pricing to Maximize Profit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Role: Dynamic pricing to maximize profit and turnover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Tech: TT203 three-layer architecture (Data → ML → LLM)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Core: Price elasticity linear regression model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Output: Optimal price + profit impact forecast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5029200" cy="411480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50"/>
                </a:solidFill>
                <a:latin typeface="Microsoft YaHei"/>
              </a:defRPr>
            </a:pPr>
            <a:r>
              <a:t>TT203 Three-Layer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Data Layer: Cleaning, aggregation, feature engineering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ML Layer: Price elasticity modeling and optimization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LLM Layer: Natural language pricing explanation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Human approval: Critical price changes need confirmation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Marketing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Microsoft YaHei"/>
              </a:defRPr>
            </a:pPr>
            <a:r>
              <a:t>Autonomous Marketing + Budget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Role: Autonomous marketing campaign and budget optimization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Tech: Reinforcement learning + A/B testing framework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Input: Customer personas + Market trends + Competition</a:t>
            </a:r>
          </a:p>
          <a:p>
            <a:pPr>
              <a:spcAft>
                <a:spcPts val="850"/>
              </a:spcAft>
              <a:defRPr sz="1700">
                <a:solidFill>
                  <a:srgbClr val="333333"/>
                </a:solidFill>
                <a:latin typeface="Microsoft YaHei"/>
              </a:defRPr>
            </a:pPr>
            <a:r>
              <a:t>• Output: Campaign plan + Budget allocation + Effectiveness forecast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5029200" cy="411480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50"/>
                </a:solidFill>
                <a:latin typeface="Microsoft YaHei"/>
              </a:defRPr>
            </a:pPr>
            <a:r>
              <a:t>Core 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RL: Dynamic marketing strategy adjustment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A/B testing: Data-driven effectiveness validation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Budget optimization: ROI-maximizing allocation</a:t>
            </a:r>
          </a:p>
          <a:p>
            <a:pPr>
              <a:spcAft>
                <a:spcPts val="750"/>
              </a:spcAft>
              <a:defRPr sz="1500">
                <a:solidFill>
                  <a:srgbClr val="333333"/>
                </a:solidFill>
                <a:latin typeface="Microsoft YaHei"/>
              </a:defRPr>
            </a:pPr>
            <a:r>
              <a:t>• Multi-channel: App/SMS/Social media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Inter-Agent Collaboration Protocol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411480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2050"/>
                </a:solidFill>
                <a:latin typeface="Microsoft YaHei"/>
              </a:defRPr>
            </a:pPr>
            <a:r>
              <a:t>Synchronous Calls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2560320"/>
            <a:ext cx="256032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REST API real-time communication</a:t>
            </a:r>
            <a:br/>
            <a:r>
              <a:t>For scenarios requiring immediate response</a:t>
            </a:r>
            <a:br/>
            <a:r>
              <a:t>E.g., personalized recommendation requests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28800"/>
            <a:ext cx="3474720" cy="411480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2050"/>
                </a:solidFill>
                <a:latin typeface="Microsoft YaHei"/>
              </a:defRPr>
            </a:pPr>
            <a:r>
              <a:t>Async Events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2560320"/>
            <a:ext cx="256032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83464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Event Hubs event-driven</a:t>
            </a:r>
            <a:br/>
            <a:r>
              <a:t>For non-realtime data streams</a:t>
            </a:r>
            <a:br/>
            <a:r>
              <a:t>E.g., inventory updates, price changes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828800"/>
            <a:ext cx="3474720" cy="411480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2050"/>
                </a:solidFill>
                <a:latin typeface="Microsoft YaHei"/>
              </a:defRPr>
            </a:pPr>
            <a:r>
              <a:t>State Sharing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2560320"/>
            <a:ext cx="256032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283464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Cosmos DB unified state</a:t>
            </a:r>
            <a:br/>
            <a:r>
              <a:t>Inter-agent shared context</a:t>
            </a:r>
            <a:br/>
            <a:r>
              <a:t>Conflict resolution: Priority + timestamp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Technical Architecture (3 Layers)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515600" cy="146304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Application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Microsoft YaHei"/>
              </a:defRPr>
            </a:pPr>
            <a:r>
              <a:t>LLM Inference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691640"/>
            <a:ext cx="5943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Azure AI Foundry + Agent Framework</a:t>
            </a:r>
            <a:br/>
            <a:r>
              <a:t>Azure OpenAI Service</a:t>
            </a:r>
            <a:br/>
            <a:r>
              <a:t>NLU and generation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46120"/>
            <a:ext cx="10515600" cy="1463040"/>
          </a:xfrm>
          <a:prstGeom prst="round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ML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94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Microsoft YaHei"/>
              </a:defRPr>
            </a:pPr>
            <a:r>
              <a:t>Prediction Model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383280"/>
            <a:ext cx="5943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Azure ML + Prophet + LSTM</a:t>
            </a:r>
            <a:br/>
            <a:r>
              <a:t>Price elasticity model</a:t>
            </a:r>
            <a:br/>
            <a:r>
              <a:t>Demand forecasting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37760"/>
            <a:ext cx="10515600" cy="1463040"/>
          </a:xfrm>
          <a:prstGeom prst="roundRect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074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Data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486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Microsoft YaHei"/>
              </a:defRPr>
            </a:pPr>
            <a:r>
              <a:t>Data Foundation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5074920"/>
            <a:ext cx="5943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Microsoft Fabric + Cosmos DB</a:t>
            </a:r>
            <a:br/>
            <a:r>
              <a:t>Event Hubs real-time stream</a:t>
            </a:r>
            <a:br/>
            <a:r>
              <a:t>Data lake + feature 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Azure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105156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050"/>
                </a:solidFill>
                <a:latin typeface="Microsoft YaHei"/>
              </a:defRPr>
            </a:pPr>
            <a:r>
              <a:t>Azure AI Foundry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Agent Framework unified orchestration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554480"/>
            <a:ext cx="5303520" cy="105156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050"/>
                </a:solidFill>
                <a:latin typeface="Microsoft YaHei"/>
              </a:defRPr>
            </a:pPr>
            <a:r>
              <a:t>Azure OpenAI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GPT-4o / GPT-4.1 inference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5303520" cy="105156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880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050"/>
                </a:solidFill>
                <a:latin typeface="Microsoft YaHei"/>
              </a:defRPr>
            </a:pPr>
            <a:r>
              <a:t>Microsoft Fabric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337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Unified data analytics platform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788920"/>
            <a:ext cx="5303520" cy="105156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880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050"/>
                </a:solidFill>
                <a:latin typeface="Microsoft YaHei"/>
              </a:defRPr>
            </a:pPr>
            <a:r>
              <a:t>Cosmos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337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Globally distributed state storage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5303520" cy="105156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050"/>
                </a:solidFill>
                <a:latin typeface="Microsoft YaHei"/>
              </a:defRPr>
            </a:pPr>
            <a:r>
              <a:t>Azure API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572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MCP Gateway unified gateway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4023360"/>
            <a:ext cx="5303520" cy="105156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114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050"/>
                </a:solidFill>
                <a:latin typeface="Microsoft YaHei"/>
              </a:defRPr>
            </a:pPr>
            <a:r>
              <a:t>Azure 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572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Model training and deployment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257800"/>
            <a:ext cx="5303520" cy="1051560"/>
          </a:xfrm>
          <a:prstGeom prst="roundRect">
            <a:avLst/>
          </a:prstGeom>
          <a:solidFill>
            <a:srgbClr val="E8EEF6"/>
          </a:solidFill>
          <a:ln w="12700">
            <a:solidFill>
              <a:srgbClr val="002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349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050"/>
                </a:solidFill>
                <a:latin typeface="Microsoft YaHei"/>
              </a:defRPr>
            </a:pPr>
            <a:r>
              <a:t>Event Hubs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806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Real-time event stream processing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Asia-Specific Considerations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Privacy: PIPL (China) / APPI (Japan) / PDPA (SEA) dynamically adjusted per region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Multilingual: LanguageRouter, native CN/JP/KR/EN support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Synthetic Persona: Solves cold start, no real data needed for modeling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Cultural adaptation: Consumer habits, aesthetics, holiday marketing per market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Data localization: Regional storage meets local regulatory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Asia-Specific Considerations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Payment fragmentation: MCP unified gateway for WeChat/Alipay/Line Pay etc.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Urban-rural: StoreStrategy tiered approach, Tier 1 vs lower-tier markets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E-commerce: JD / Tmall / Rakuten / Shopee multi-platform adaptation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Social commerce: Xiaohongshu / Douyin / Instagram content discovery</a:t>
            </a:r>
          </a:p>
          <a:p>
            <a:pPr>
              <a:spcAft>
                <a:spcPts val="9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Logistics: Instant delivery (CN) vs standard delivery (JP/SEA)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Scenario 1 — Cross-Channel Personalization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050"/>
                </a:solidFill>
                <a:latin typeface="Microsoft YaHei"/>
              </a:defRPr>
            </a:pPr>
            <a:r>
              <a:t>Scenario: Customer browses fleece jacket on App, gets personalized recommendation in-store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2560320" cy="22860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① Customer Understanding Agent</a:t>
            </a:r>
            <a:br/>
            <a:r>
              <a:t>Collect multi-channel behavior data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91840" y="3383280"/>
            <a:ext cx="274320" cy="36576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66160" y="2560320"/>
            <a:ext cx="2560320" cy="22860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743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② Personalization Agent</a:t>
            </a:r>
            <a:br/>
            <a:r>
              <a:t>Generate personalized recommendations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126480" y="3383280"/>
            <a:ext cx="274320" cy="36576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560320"/>
            <a:ext cx="2560320" cy="22860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743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③ Store Agent</a:t>
            </a:r>
            <a:br/>
            <a:r>
              <a:t>Push outfit suggestions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961120" y="3383280"/>
            <a:ext cx="274320" cy="36576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35440" y="2560320"/>
            <a:ext cx="2560320" cy="22860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2743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④ Marketing Agent</a:t>
            </a:r>
            <a:br/>
            <a:r>
              <a:t>Send coupons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Expected Impact: Conversion +35%, AOV +20%, CSAT up to 85%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Scenario 2 — Intelligent Inventory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050"/>
                </a:solidFill>
                <a:latin typeface="Microsoft YaHei"/>
              </a:defRPr>
            </a:pPr>
            <a:r>
              <a:t>Scenario: During seasonal transition, auto-predict demand and adjust inventory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2560320" cy="22860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① Inventory Agent</a:t>
            </a:r>
            <a:br/>
            <a:r>
              <a:t>Analyze historical sales + weather data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91840" y="3383280"/>
            <a:ext cx="274320" cy="36576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66160" y="2560320"/>
            <a:ext cx="2560320" cy="22860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743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② Demand Forecast</a:t>
            </a:r>
            <a:br/>
            <a:r>
              <a:t>7-day sales forecast + safety stock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126480" y="3383280"/>
            <a:ext cx="274320" cy="36576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560320"/>
            <a:ext cx="2560320" cy="22860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743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③ Auto-Replenishment</a:t>
            </a:r>
            <a:br/>
            <a:r>
              <a:t>Generate replenishment orders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961120" y="3383280"/>
            <a:ext cx="274320" cy="36576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35440" y="2560320"/>
            <a:ext cx="2560320" cy="22860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2743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④ Pricing Agent</a:t>
            </a:r>
            <a:br/>
            <a:r>
              <a:t>Coordinate promotion price adjustments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Expected Impact: Waste -50%, stockout -60%, turnover +40%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Scenario 3 — Dynamic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050"/>
                </a:solidFill>
                <a:latin typeface="Microsoft YaHei"/>
              </a:defRPr>
            </a:pPr>
            <a:r>
              <a:t>Scenario: When competitors cut prices, auto-evaluate and adjust pricing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2560320" cy="22860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① Pricing Agent</a:t>
            </a:r>
            <a:br/>
            <a:r>
              <a:t>Monitor competitor price changes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91840" y="3383280"/>
            <a:ext cx="274320" cy="36576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66160" y="2560320"/>
            <a:ext cx="2560320" cy="22860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743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② Elasticity Analysis</a:t>
            </a:r>
            <a:br/>
            <a:r>
              <a:t>Price elasticity model evaluates impact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126480" y="3383280"/>
            <a:ext cx="274320" cy="36576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560320"/>
            <a:ext cx="2560320" cy="22860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743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③ Strategy Generation</a:t>
            </a:r>
            <a:br/>
            <a:r>
              <a:t>TT203 three-layer architecture decision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961120" y="3383280"/>
            <a:ext cx="274320" cy="36576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35440" y="2560320"/>
            <a:ext cx="2560320" cy="22860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274320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④ Human Approval</a:t>
            </a:r>
            <a:br/>
            <a:r>
              <a:t>Critical price changes require confirmation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Expected Impact: Margin +15%, price response from 7 days to 2 hours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Expected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011680" cy="36576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  <a:latin typeface="Microsoft YaHei"/>
              </a:defRPr>
            </a:pPr>
            <a:r>
              <a:t>+40%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Same-Store Sales Growth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011680"/>
            <a:ext cx="2011680" cy="36576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7432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  <a:latin typeface="Microsoft YaHei"/>
              </a:defRPr>
            </a:pPr>
            <a:r>
              <a:t>-50%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40233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Inventory Waste Reduction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011680"/>
            <a:ext cx="2011680" cy="36576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27432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  <a:latin typeface="Microsoft YaHei"/>
              </a:defRPr>
            </a:pPr>
            <a:r>
              <a:t>85%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40233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Customer Satisfaction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011680"/>
            <a:ext cx="2011680" cy="36576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27432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  <a:latin typeface="Microsoft YaHei"/>
              </a:defRPr>
            </a:pPr>
            <a:r>
              <a:t>+60%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40233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Customer Lifetime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2011680"/>
            <a:ext cx="2011680" cy="36576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27432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  <a:latin typeface="Microsoft YaHei"/>
              </a:defRPr>
            </a:pPr>
            <a:r>
              <a:t>35%+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40233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E-commerce Penetration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Implementation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438912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Microsoft YaHei"/>
              </a:defRPr>
            </a:pPr>
            <a:r>
              <a:t>Phase 1 (3 months)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MVP Validation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108960"/>
            <a:ext cx="2560320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918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10-store pilot</a:t>
            </a:r>
            <a:br/>
            <a:r>
              <a:t>Customer Understanding + Personalization</a:t>
            </a:r>
            <a:br/>
            <a:r>
              <a:t>Validate core 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828800"/>
            <a:ext cx="3474720" cy="4389120"/>
          </a:xfrm>
          <a:prstGeom prst="roundRect">
            <a:avLst/>
          </a:prstGeom>
          <a:solidFill>
            <a:srgbClr val="00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Microsoft YaHei"/>
              </a:defRPr>
            </a:pPr>
            <a:r>
              <a:t>Phase 2 (6 months)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Scale deployment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108960"/>
            <a:ext cx="2560320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32918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100 stores</a:t>
            </a:r>
            <a:br/>
            <a:r>
              <a:t>Add Inventory + Pricing Agent</a:t>
            </a:r>
            <a:br/>
            <a:r>
              <a:t>Full chain integration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828800"/>
            <a:ext cx="3474720" cy="4389120"/>
          </a:xfrm>
          <a:prstGeom prst="roundRect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Microsoft YaHei"/>
              </a:defRPr>
            </a:pPr>
            <a:r>
              <a:t>Phase 3 (12 months)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Full Omnichannel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3108960"/>
            <a:ext cx="2560320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32918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Full omnichannel launch</a:t>
            </a:r>
            <a:br/>
            <a:r>
              <a:t>5 Agent full collaboration</a:t>
            </a:r>
            <a:br/>
            <a:r>
              <a:t>Continuous optimization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bg><p:bgPr><a:solidFill><a:srgbClr val="FFFFFF"/></a:solidFill><a:effectLst/></p:bgPr></p:bg><p:spTree><p:nvGrpSpPr><p:cNvPr id="1" name=""/><p:cNvGrpSpPr/><p:nvPr/></p:nvGrpSpPr><p:grpSpPr/><p:sp><p:nvSpPr><p:cNvPr id="2" name="Rectangle 1"/><p:cNvSpPr/><p:nvPr/></p:nvSpPr><p:spPr><a:xfrm><a:off x="0" y="0"/><a:ext cx="12191695" cy="1188720"/></a:xfrm><a:prstGeom prst="rect"><a:avLst/></a:prstGeom><a:solidFill><a:srgbClr val="002050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Rectangle 2"/><p:cNvSpPr/><p:nvPr/></p:nvSpPr><p:spPr><a:xfrm><a:off x="0" y="1188720"/><a:ext cx="12191695" cy="54864"/></a:xfrm><a:prstGeom prst="rect"><a:avLst/></a:prstGeom><a:solidFill><a:srgbClr val="FFD700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4" name="TextBox 3"/><p:cNvSpPr txBox="1"/><p:nvPr/></p:nvSpPr><p:spPr><a:xfrm><a:off x="731520" y="228600"/><a:ext cx="10058400" cy="640080"/></a:xfrm><a:prstGeom prst="rect"><a:avLst/></a:prstGeom><a:noFill/></p:spPr><p:txBody><a:bodyPr wrap="square"><a:spAutoFit/></a:bodyPr><a:lstStyle/><a:p><a:pPr algn="l"><a:defRPr sz="3000" b="1"><a:solidFill><a:srgbClr val="FFFFFF"/></a:solidFill><a:latin typeface="Microsoft YaHei"/></a:defRPr></a:pPr><a:r><a:t>Risks & Mitigations</a:t></a:r></a:p></p:txBody></p:sp><p:sp><p:nvSpPr><p:cNvPr id="5" name="Rounded Rectangle 4"/><p:cNvSpPr/><p:nvPr/></p:nvSpPr><p:spPr><a:xfrm><a:off x="731520" y="1554480"/><a:ext cx="5029200" cy="1051560"/></a:xfrm><a:prstGeom prst="roundRect"><a:avLst/></a:prstGeom><a:solidFill><a:srgbClr val="FFF0F0"/></a:solidFill><a:ln w="12700"><a:solidFill><a:srgbClr val="CC3333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6" name="TextBox 5"/><p:cNvSpPr txBox="1"/><p:nvPr/></p:nvSpPr><p:spPr><a:xfrm><a:off x="914400" y="1645920"/><a:ext cx="4572000" cy="365760"/></a:xfrm><a:prstGeom prst="rect"><a:avLst/></a:prstGeom><a:noFill/></p:spPr><p:txBody><a:bodyPr wrap="square"><a:spAutoFit/></a:bodyPr><a:lstStyle/><a:p><a:pPr algn="l"><a:defRPr sz="1600" b="1"><a:solidFill><a:srgbClr val="CC3333"/></a:solidFill><a:latin typeface="Microsoft YaHei"/></a:defRPr></a:pPr><a:r><a:t>⚠️ Hallucination Risk</a:t></a:r></a:p></p:txBody></p:sp><p:sp><p:nvSpPr><p:cNvPr id="7" name="TextBox 6"/><p:cNvSpPr txBox="1"/><p:nvPr/></p:nvSpPr><p:spPr><a:xfrm><a:off x="914400" y="2057400"/><a:ext cx="4572000" cy="365760"/></a:xfrm><a:prstGeom prst="rect"><a:avLst/></a:prstGeom><a:noFill/></p:spPr><p:txBody><a:bodyPr wrap="square"><a:spAutoFit/></a:bodyPr><a:lstStyle/><a:p><a:pPr algn="l"><a:defRPr sz="1300" b="0"><a:solidFill><a:srgbClr val="333333"/></a:solidFill><a:latin typeface="Microsoft YaHei"/></a:defRPr></a:pPr><a:r><a:t>LLM generates inaccurate information</a:t></a:r></a:p></p:txBody></p:sp><p:sp><p:nvSpPr><p:cNvPr id="8" name="Rounded Rectangle 7"/><p:cNvSpPr/><p:nvPr/></p:nvSpPr><p:spPr><a:xfrm><a:off x="6217920" y="1554480"/><a:ext cx="5303520" cy="1051560"/></a:xfrm><a:prstGeom prst="roundRect"><a:avLst/></a:prstGeom><a:solidFill><a:srgbClr val="F0FFF0"/></a:solidFill><a:ln w="12700"><a:solidFill><a:srgbClr val="339933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9" name="TextBox 8"/><p:cNvSpPr txBox="1"/><p:nvPr/></p:nvSpPr><p:spPr><a:xfrm><a:off x="6400800" y="1645920"/><a:ext cx="4937760" cy="365760"/></a:xfrm><a:prstGeom prst="rect"><a:avLst/></a:prstGeom><a:noFill/></p:spPr><p:txBody><a:bodyPr wrap="square"><a:spAutoFit/></a:bodyPr><a:lstStyle/><a:p><a:pPr algn="l"><a:defRPr sz="1600" b="1"><a:solidFill><a:srgbClr val="339933"/></a:solidFill><a:latin typeface="Microsoft YaHei"/></a:defRPr></a:pPr><a:r><a:t>✅ Mitigation</a:t></a:r></a:p></p:txBody></p:sp><p:sp><p:nvSpPr><p:cNvPr id="10" name="TextBox 9"/><p:cNvSpPr txBox="1"/><p:nvPr/></p:nvSpPr><p:spPr><a:xfrm><a:off x="6400800" y="2057400"/><a:ext cx="4937760" cy="365760"/></a:xfrm><a:prstGeom prst="rect"><a:avLst/></a:prstGeom><a:noFill/></p:spPr><p:txBody><a:bodyPr wrap="square"><a:spAutoFit/></a:bodyPr><a:lstStyle/><a:p><a:pPr algn="l"><a:defRPr sz="1300" b="0"><a:solidFill><a:srgbClr val="333333"/></a:solidFill><a:latin typeface="Microsoft YaHei"/></a:defRPr></a:pPr><a:r><a:t>RAG + fact-checking + human review</a:t></a:r></a:p></p:txBody></p:sp><p:sp><p:nvSpPr><p:cNvPr id="11" name="Rounded Rectangle 10"/><p:cNvSpPr/><p:nvPr/></p:nvSpPr><p:spPr><a:xfrm><a:off x="731520" y="2788920"/><a:ext cx="5029200" cy="1051560"/></a:xfrm><a:prstGeom prst="roundRect"><a:avLst/></a:prstGeom><a:solidFill><a:srgbClr val="FFF0F0"/></a:solidFill><a:ln w="12700"><a:solidFill><a:srgbClr val="CC3333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2" name="TextBox 11"/><p:cNvSpPr txBox="1"/><p:nvPr/></p:nvSpPr><p:spPr><a:xfrm><a:off x="914400" y="2880360"/><a:ext cx="4572000" cy="365760"/></a:xfrm><a:prstGeom prst="rect"><a:avLst/></a:prstGeom><a:noFill/></p:spPr><p:txBody><a:bodyPr wrap="square"><a:spAutoFit/></a:bodyPr><a:lstStyle/><a:p><a:pPr algn="l"><a:defRPr sz="1600" b="1"><a:solidFill><a:srgbClr val="CC3333"/></a:solidFill><a:latin typeface="Microsoft YaHei"/></a:defRPr></a:pPr><a:r><a:t>⚠️ Latency Risk</a:t></a:r></a:p></p:txBody></p:sp><p:sp><p:nvSpPr><p:cNvPr id="13" name="TextBox 12"/><p:cNvSpPr txBox="1"/><p:nvPr/></p:nvSpPr><p:spPr><a:xfrm><a:off x="914400" y="3291840"/><a:ext cx="4572000" cy="365760"/></a:xfrm><a:prstGeom prst="rect"><a:avLst/></a:prstGeom><a:noFill/></p:spPr><p:txBody><a:bodyPr wrap="square"><a:spAutoFit/></a:bodyPr><a:lstStyle/><a:p><a:pPr algn="l"><a:defRPr sz="1300" b="0"><a:solidFill><a:srgbClr val="333333"/></a:solidFill><a:latin typeface="Microsoft YaHei"/></a:defRPr></a:pPr><a:r><a:t>Agent response time too long</a:t></a:r></a:p></p:txBody></p:sp><p:sp><p:nvSpPr><p:cNvPr id="14" name="Rounded Rectangle 13"/><p:cNvSpPr/><p:nvPr/></p:nvSpPr><p:spPr><a:xfrm><a:off x="6217920" y="2788920"/><a:ext cx="5303520" cy="1051560"/></a:xfrm><a:prstGeom prst="roundRect"><a:avLst/></a:prstGeom><a:solidFill><a:srgbClr val="F0FFF0"/></a:solidFill><a:ln w="12700"><a:solidFill><a:srgbClr val="339933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5" name="TextBox 14"/><p:cNvSpPr txBox="1"/><p:nvPr/></p:nvSpPr><p:spPr><a:xfrm><a:off x="6400800" y="2880360"/><a:ext cx="4937760" cy="365760"/></a:xfrm><a:prstGeom prst="rect"><a:avLst/></a:prstGeom><a:noFill/></p:spPr><p:txBody><a:bodyPr wrap="square"><a:spAutoFit/></a:bodyPr><a:lstStyle/><a:p><a:pPr algn="l"><a:defRPr sz="1600" b="1"><a:solidFill><a:srgbClr val="339933"/></a:solidFill><a:latin typeface="Microsoft YaHei"/></a:defRPr></a:pPr><a:r><a:t>✅ Mitigation</a:t></a:r></a:p></p:txBody></p:sp><p:sp><p:nvSpPr><p:cNvPr id="16" name="TextBox 15"/><p:cNvSpPr txBox="1"/><p:nvPr/></p:nvSpPr><p:spPr><a:xfrm><a:off x="6400800" y="3291840"/><a:ext cx="4937760" cy="365760"/></a:xfrm><a:prstGeom prst="rect"><a:avLst/></a:prstGeom><a:noFill/></p:spPr><p:txBody><a:bodyPr wrap="square"><a:spAutoFit/></a:bodyPr><a:lstStyle/><a:p><a:pPr algn="l"><a:defRPr sz="1300" b="0"><a:solidFill><a:srgbClr val="333333"/></a:solidFill><a:latin typeface="Microsoft YaHei"/></a:defRPr></a:pPr><a:r><a:t>Event-driven + caching + async processing</a:t></a:r></a:p></p:txBody></p:sp><p:sp><p:nvSpPr><p:cNvPr id="17" name="Rounded Rectangle 16"/><p:cNvSpPr/><p:nvPr/></p:nvSpPr><p:spPr><a:xfrm><a:off x="731520" y="4023360"/><a:ext cx="5029200" cy="1051560"/></a:xfrm><a:prstGeom prst="roundRect"><a:avLst/></a:prstGeom><a:solidFill><a:srgbClr val="FFF0F0"/></a:solidFill><a:ln w="12700"><a:solidFill><a:srgbClr val="CC3333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18" name="TextBox 17"/><p:cNvSpPr txBox="1"/><p:nvPr/></p:nvSpPr><p:spPr><a:xfrm><a:off x="914400" y="4114800"/><a:ext cx="4572000" cy="365760"/></a:xfrm><a:prstGeom prst="rect"><a:avLst/></a:prstGeom><a:noFill/></p:spPr><p:txBody><a:bodyPr wrap="square"><a:spAutoFit/></a:bodyPr><a:lstStyle/><a:p><a:pPr algn="l"><a:defRPr sz="1600" b="1"><a:solidFill><a:srgbClr val="CC3333"/></a:solidFill><a:latin typeface="Microsoft YaHei"/></a:defRPr></a:pPr><a:r><a:t>⚠️ Cost Risk</a:t></a:r></a:p></p:txBody></p:sp><p:sp><p:nvSpPr><p:cNvPr id="19" name="TextBox 18"/><p:cNvSpPr txBox="1"/><p:nvPr/></p:nvSpPr><p:spPr><a:xfrm><a:off x="914400" y="4526280"/><a:ext cx="4572000" cy="365760"/></a:xfrm><a:prstGeom prst="rect"><a:avLst/></a:prstGeom><a:noFill/></p:spPr><p:txBody><a:bodyPr wrap="square"><a:spAutoFit/></a:bodyPr><a:lstStyle/><a:p><a:pPr algn="l"><a:defRPr sz="1300" b="0"><a:solidFill><a:srgbClr val="333333"/></a:solidFill><a:latin typeface="Microsoft YaHei"/></a:defRPr></a:pPr><a:r><a:t>API call costs too high</a:t></a:r></a:p></p:txBody></p:sp><p:sp><p:nvSpPr><p:cNvPr id="20" name="Rounded Rectangle 19"/><p:cNvSpPr/><p:nvPr/></p:nvSpPr><p:spPr><a:xfrm><a:off x="6217920" y="4023360"/><a:ext cx="5303520" cy="1051560"/></a:xfrm><a:prstGeom prst="roundRect"><a:avLst/></a:prstGeom><a:solidFill><a:srgbClr val="F0FFF0"/></a:solidFill><a:ln w="12700"><a:solidFill><a:srgbClr val="339933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21" name="TextBox 20"/><p:cNvSpPr txBox="1"/><p:nvPr/></p:nvSpPr><p:spPr><a:xfrm><a:off x="6400800" y="4114800"/><a:ext cx="4937760" cy="365760"/></a:xfrm><a:prstGeom prst="rect"><a:avLst/></a:prstGeom><a:noFill/></p:spPr><p:txBody><a:bodyPr wrap="square"><a:spAutoFit/></a:bodyPr><a:lstStyle/><a:p><a:pPr algn="l"><a:defRPr sz="1600" b="1"><a:solidFill><a:srgbClr val="339933"/></a:solidFill><a:latin typeface="Microsoft YaHei"/></a:defRPr></a:pPr><a:r><a:t>✅ Mitigation</a:t></a:r></a:p></p:txBody></p:sp><p:sp><p:nvSpPr><p:cNvPr id="22" name="TextBox 21"/><p:cNvSpPr txBox="1"/><p:nvPr/></p:nvSpPr><p:spPr><a:xfrm><a:off x="6400800" y="4526280"/><a:ext cx="4937760" cy="365760"/></a:xfrm><a:prstGeom prst="rect"><a:avLst/></a:prstGeom><a:noFill/></p:spPr><p:txBody><a:bodyPr wrap="square"><a:spAutoFit/></a:bodyPr><a:lstStyle/><a:p><a:pPr algn="l"><a:defRPr sz="1300" b="0"><a:solidFill><a:srgbClr val="333333"/></a:solidFill><a:latin typeface="Microsoft YaHei"/></a:defRPr></a:pPr><a:r><a:t>Small models for simple tasks + caching</a:t></a:r></a:p></p:txBody></p:sp><p:sp><p:nvSpPr><p:cNvPr id="23" name="Rounded Rectangle 22"/><p:cNvSpPr/><p:nvPr/></p:nvSpPr><p:spPr><a:xfrm><a:off x="731520" y="5257800"/><a:ext cx="5029200" cy="1051560"/></a:xfrm><a:prstGeom prst="roundRect"><a:avLst/></a:prstGeom><a:solidFill><a:srgbClr val="FFF0F0"/></a:solidFill><a:ln w="12700"><a:solidFill><a:srgbClr val="CC3333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24" name="TextBox 23"/><p:cNvSpPr txBox="1"/><p:nvPr/></p:nvSpPr><p:spPr><a:xfrm><a:off x="914400" y="5349240"/><a:ext cx="4572000" cy="365760"/></a:xfrm><a:prstGeom prst="rect"><a:avLst/></a:prstGeom><a:noFill/></p:spPr><p:txBody><a:bodyPr wrap="square"><a:spAutoFit/></a:bodyPr><a:lstStyle/><a:p><a:pPr algn="l"><a:defRPr sz="1600" b="1"><a:solidFill><a:srgbClr val="CC3333"/></a:solidFill><a:latin typeface="Microsoft YaHei"/></a:defRPr></a:pPr><a:r><a:t>⚠️ Compliance Risk</a:t></a:r></a:p></p:txBody></p:sp><p:sp><p:nvSpPr><p:cNvPr id="25" name="TextBox 24"/><p:cNvSpPr txBox="1"/><p:nvPr/></p:nvSpPr><p:spPr><a:xfrm><a:off x="914400" y="5760720"/><a:ext cx="4572000" cy="365760"/></a:xfrm><a:prstGeom prst="rect"><a:avLst/></a:prstGeom><a:noFill/></p:spPr><p:txBody><a:bodyPr wrap="square"><a:spAutoFit/></a:bodyPr><a:lstStyle/><a:p><a:pPr algn="l"><a:defRPr sz="1300" b="0"><a:solidFill><a:srgbClr val="333333"/></a:solidFill><a:latin typeface="Microsoft YaHei"/></a:defRPr></a:pPr><a:r><a:t>Data privacy regulation violations</a:t></a:r></a:p></p:txBody></p:sp><p:sp><p:nvSpPr><p:cNvPr id="26" name="Rounded Rectangle 25"/><p:cNvSpPr/><p:nvPr/></p:nvSpPr><p:spPr><a:xfrm><a:off x="6217920" y="5257800"/><a:ext cx="5303520" cy="1051560"/></a:xfrm><a:prstGeom prst="roundRect"><a:avLst/></a:prstGeom><a:solidFill><a:srgbClr val="F0FFF0"/></a:solidFill><a:ln w="12700"><a:solidFill><a:srgbClr val="339933"/></a:solidFill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27" name="TextBox 26"/><p:cNvSpPr txBox="1"/><p:nvPr/></p:nvSpPr><p:spPr><a:xfrm><a:off x="6400800" y="5349240"/><a:ext cx="4937760" cy="365760"/></a:xfrm><a:prstGeom prst="rect"><a:avLst/></a:prstGeom><a:noFill/></p:spPr><p:txBody><a:bodyPr wrap="square"><a:spAutoFit/></a:bodyPr><a:lstStyle/><a:p><a:pPr algn="l"><a:defRPr sz="1600" b="1"><a:solidFill><a:srgbClr val="339933"/></a:solidFill><a:latin typeface="Microsoft YaHei"/></a:defRPr></a:pPr><a:r><a:t>✅ Mitigation</a:t></a:r></a:p></p:txBody></p:sp><p:sp><p:nvSpPr><p:cNvPr id="28" name="TextBox 27"/><p:cNvSpPr txBox="1"/><p:nvPr/></p:nvSpPr><p:spPr><a:xfrm><a:off x="6400800" y="5760720"/><a:ext cx="4937760" cy="365760"/></a:xfrm><a:prstGeom prst="rect"><a:avLst/></a:prstGeom><a:noFill/></p:spPr><p:txBody><a:bodyPr wrap="square"><a:spAutoFit/></a:bodyPr><a:lstStyle/><a:p><a:pPr algn="l"><a:defRPr sz="1300" b="0"><a:solidFill><a:srgbClr val="333333"/></a:solidFill><a:latin typeface="Microsoft YaHei"/></a:defRPr></a:pPr><a:r><a:t>Synthetic Persona + data localization + audit</a:t></a:r></a:p></p:txBody></p:sp><p:sp><p:nvSpPr><p:cNvPr id="29" name="TextBox 28"/><p:cNvSpPr txBox="1"/><p:nvPr/></p:nvSpPr><p:spPr><a:xfrm><a:off x="11247120" y="6400800"/><a:ext cx="731520" cy="365760"/></a:xfrm><a:prstGeom prst="rect"><a:avLst/></a:prstGeom><a:noFill/></p:spPr><p:txBody><a:bodyPr wrap="square"><a:spAutoFit/></a:bodyPr><a:lstStyle/><a:p><a:pPr algn="r"><a:defRPr sz="1000" b="0"><a:solidFill><a:srgbClr val="999999"/></a:solidFill><a:latin typeface="Microsoft YaHei"/></a:defRPr></a:pPr><a:r><a:t>22</a:t></a:r></a:p></p:txBody></p:sp></p:spTree></p:cSld><p:clrMapOvr><a:masterClrMapping/></p:clrMapOvr>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Cost Estimation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700"/>
                </a:solidFill>
                <a:latin typeface="Microsoft YaHei"/>
              </a:defRPr>
            </a:pPr>
            <a:r>
              <a:t>Prototype Phase Monthly Cost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0" y="1828800"/>
          <a:ext cx="75895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9840"/>
                <a:gridCol w="2529840"/>
                <a:gridCol w="252984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>
                    <a:solidFill>
                      <a:srgbClr val="002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Monthly Cost</a:t>
                      </a:r>
                    </a:p>
                  </a:txBody>
                  <a:tcPr>
                    <a:solidFill>
                      <a:srgbClr val="002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205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Azure OpenAI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~$500/mo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GPT-4o inference calls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Cosmos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~$200/mo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Globally distributed storage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Azure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~$300/mo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Model training and deployment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Other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~$200/mo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3333"/>
                          </a:solidFill>
                        </a:defRPr>
                      </a:pPr>
                      <a:r>
                        <a:t>Event Hubs / APIM / Fabric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2050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2050"/>
                          </a:solidFill>
                        </a:defRPr>
                      </a:pPr>
                      <a:r>
                        <a:t>~$1,300/mo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2050"/>
                          </a:solidFill>
                        </a:defRPr>
                      </a:pPr>
                      <a:r>
                        <a:t>Prototype phase estimate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286000" y="56692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Note: Production costs scale linearly with stores, expected ROI &gt; 10x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 ✓  5 Agents solve 4 core retail pain points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 ✓  Azure full-stack, enterprise-grade security and scalability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 ✓  Deep Asia market adaptation, differentiated advantage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 ✓  Executable 3-phase roadmap, risk-controlled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 ✓  Expected ROI &gt; 10x, validate in 3 months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754880"/>
            <a:ext cx="10332720" cy="137160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4937760"/>
            <a:ext cx="9784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Project 46 is not just a technical solution, but a paradigm shift in retail digital transformation.</a:t>
            </a:r>
            <a:br/>
            <a:r>
              <a:t>Through AI Agent collaboration, move Uniqlo from "experience-driven" to "data-intelligence-driven".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bg><p:bgPr><a:solidFill><a:srgbClr val="002050"/></a:solidFill><a:effectLst/></p:bgPr></p:bg><p:spTree><p:nvGrpSpPr><p:cNvPr id="1" name=""/><p:cNvGrpSpPr/><p:nvPr/></p:nvGrpSpPr><p:grpSpPr/><p:sp><p:nvSpPr><p:cNvPr id="2" name="Rectangle 1"/><p:cNvSpPr/><p:nvPr/></p:nvSpPr><p:spPr><a:xfrm><a:off x="0" y="0"/><a:ext cx="12191695" cy="73152"/></a:xfrm><a:prstGeom prst="rect"><a:avLst/></a:prstGeom><a:solidFill><a:srgbClr val="FFD700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914400" y="1828800"/><a:ext cx="10332720" cy="1371600"/></a:xfrm><a:prstGeom prst="rect"><a:avLst/></a:prstGeom><a:noFill/></p:spPr><p:txBody><a:bodyPr wrap="square"><a:spAutoFit/></a:bodyPr><a:lstStyle/><a:p><a:pPr algn="ctr"><a:defRPr sz="5200" b="1"><a:solidFill><a:srgbClr val="FFFFFF"/></a:solidFill><a:latin typeface="Microsoft YaHei"/></a:defRPr></a:pPr><a:r><a:t>Thank You</a:t></a:r></a:p></p:txBody></p:sp><p:sp><p:nvSpPr><p:cNvPr id="4" name="TextBox 3"/><p:cNvSpPr txBox="1"/><p:nvPr/></p:nvSpPr><p:spPr><a:xfrm><a:off x="914400" y="3200400"/><a:ext cx="10332720" cy="731520"/></a:xfrm><a:prstGeom prst="rect"><a:avLst/></a:prstGeom><a:noFill/></p:spPr><p:txBody><a:bodyPr wrap="square"><a:spAutoFit/></a:bodyPr><a:lstStyle/><a:p><a:pPr algn="ctr"><a:defRPr sz="3200" b="0"><a:solidFill><a:srgbClr val="FFD700"/></a:solidFill><a:latin typeface="Microsoft YaHei"/></a:defRPr></a:pPr><a:r><a:t>Thank You</a:t></a:r></a:p></p:txBody></p:sp><p:sp><p:nvSpPr><p:cNvPr id="5" name="Rectangle 4"/><p:cNvSpPr/><p:nvPr/></p:nvSpPr><p:spPr><a:xfrm><a:off x="4572000" y="4114800"/><a:ext cx="3017520" cy="36576"/></a:xfrm><a:prstGeom prst="rect"><a:avLst/></a:prstGeom><a:solidFill><a:srgbClr val="FFD700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6" name="TextBox 5"/><p:cNvSpPr txBox="1"/><p:nvPr/></p:nvSpPr><p:spPr><a:xfrm><a:off x="914400" y="4572000"/><a:ext cx="10332720" cy="1371600"/></a:xfrm><a:prstGeom prst="rect"><a:avLst/></a:prstGeom><a:noFill/></p:spPr><p:txBody><a:bodyPr wrap="square"><a:spAutoFit/></a:bodyPr><a:lstStyle/><a:p><a:pPr algn="ctr"><a:spcAft><a:spcPts val="720"/></a:spcAft><a:defRPr sz="1800" b="0"><a:solidFill><a:srgbClr val="CCCCCC"/></a:solidFill><a:latin typeface="Microsoft YaHei"/></a:defRPr></a:pPr><a:r><a:t>Q &amp; A</a:t></a:r></a:p><a:p><a:pPr algn="ctr"><a:spcAft><a:spcPts val="720"/></a:spcAft><a:defRPr sz="1800" b="0"><a:solidFill><a:srgbClr val="CCCCCC"/></a:solidFill><a:latin typeface="Microsoft YaHei"/></a:defRPr></a:pPr></a:p><a:p><a:pPr algn="ctr"><a:spcAft><a:spcPts val="720"/></a:spcAft><a:defRPr sz="1800" b="0"><a:solidFill><a:srgbClr val="CCCCCC"/></a:solidFill><a:latin typeface="Microsoft YaHei"/></a:defRPr></a:pPr><a:r><a:t>Presenter: Yuan Wang  Senior Solution Engineer, Azure & AI Platform</a:t></a:r></a:p><a:p><a:pPr algn="ctr"><a:spcAft><a:spcPts val="720"/></a:spcAft><a:defRPr sz="1800" b="0"><a:solidFill><a:srgbClr val="CCCCCC"/></a:solidFill><a:latin typeface="Microsoft YaHei"/></a:defRPr></a:pPr><a:r><a:t>Project 46 — Autonomous Retail Intelligence Agent Platform</a:t></a:r></a:p></p:txBody></p:sp><p:sp><p:nvSpPr><p:cNvPr id="7" name="Rectangle 6"/><p:cNvSpPr/><p:nvPr/></p:nvSpPr><p:spPr><a:xfrm><a:off x="0" y="6784848"/><a:ext cx="12191695" cy="73152"/></a:xfrm><a:prstGeom prst="rect"><a:avLst/></a:prstGeom><a:solidFill><a:srgbClr val="FFD700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/p:spTree></p:cSld><p:clrMapOvr><a:masterClrMapping/></p:clrMapOvr>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