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Autonomous Retail Intelligence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Agent Platform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29260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B0B0B0"/>
                </a:solidFill>
              </a:rPr>
              <a:t>Multi-Agent Intelligent Retail Platform Based on Uniqlo (Fast Retailing)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5029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88888"/>
                </a:solidFill>
              </a:rPr>
              <a:t>Presenter: Yuan Wang  |  Senior Solution Engineer, Azure &amp; AI Platform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54864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Project 46 — Autonomous Retail Intelligence Agent Platform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</a:rPr>
              <a:t>Agenda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1371600" cy="4572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1887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A"/>
                </a:solidFill>
              </a:rPr>
              <a:t>01  Project Background &amp; Challenges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16916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A"/>
                </a:solidFill>
              </a:rPr>
              <a:t>02  Solution Overview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A"/>
                </a:solidFill>
              </a:rPr>
              <a:t>03  5 Agent Architecture Design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269748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A"/>
                </a:solidFill>
              </a:rPr>
              <a:t>04  Technical Architecture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A"/>
                </a:solidFill>
              </a:rPr>
              <a:t>05  Asia-Specific Considerations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37033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A"/>
                </a:solidFill>
              </a:rPr>
              <a:t>06  Business Scenario Demos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" y="42062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A"/>
                </a:solidFill>
              </a:rPr>
              <a:t>07  Expected Impact &amp; Roadmap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31520" y="470916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A"/>
                </a:solidFill>
              </a:rPr>
              <a:t>08  Risks &amp; Cost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31520" y="521208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A"/>
                </a:solidFill>
              </a:rPr>
              <a:t>09  Summary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</a:rPr>
              <a:t>Project Background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1371600" cy="4572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188720"/>
            <a:ext cx="77724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666666"/>
                </a:solidFill>
              </a:rPr>
              <a:t>Global retail faces digital transformation; traditional models are unsustainable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666666"/>
                </a:solidFill>
              </a:rPr>
              <a:t>Uniqlo (Fast Retailing): 3,500+ global stores, 1.3B units annual production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666666"/>
                </a:solidFill>
              </a:rPr>
              <a:t>Greater China revenue: 21.8%, 900+ stores in China (more than Japan)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666666"/>
                </a:solidFill>
              </a:rPr>
              <a:t>Core pain points: data silos, insufficient personalization, inventory waste, pricing lag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78D4"/>
                </a:solidFill>
              </a:rPr>
              <a:t>Agent-based architecture is the only solution for cross-system autonomous collaboration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</a:rPr>
              <a:t>Business Challenges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1371600" cy="4572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188720"/>
            <a:ext cx="3840480" cy="1828800"/>
          </a:xfrm>
          <a:prstGeom prst="roundRect">
            <a:avLst>
              <a:gd name="adj" fmla="val 5000"/>
            </a:avLst>
          </a:prstGeom>
          <a:solidFill>
            <a:srgbClr val="F3F3F3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37160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78D4"/>
                </a:solidFill>
              </a:rPr>
              <a:t>Data Silos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1920240"/>
            <a:ext cx="3474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Customer data scattered across App, stores, e-commerce, social media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0" y="1188720"/>
            <a:ext cx="3840480" cy="1828800"/>
          </a:xfrm>
          <a:prstGeom prst="roundRect">
            <a:avLst>
              <a:gd name="adj" fmla="val 5000"/>
            </a:avLst>
          </a:prstGeom>
          <a:solidFill>
            <a:srgbClr val="F3F3F3"/>
          </a:solidFill>
          <a:ln/>
        </p:spPr>
      </p:sp>
      <p:sp>
        <p:nvSpPr>
          <p:cNvPr id="8" name="Text 6"/>
          <p:cNvSpPr/>
          <p:nvPr/>
        </p:nvSpPr>
        <p:spPr>
          <a:xfrm>
            <a:off x="4754880" y="137160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78D4"/>
                </a:solidFill>
              </a:rPr>
              <a:t>Inventory Waste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754880" y="1920240"/>
            <a:ext cx="3474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Industry avg waste rate 30%+, billions in annual losses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3474720"/>
            <a:ext cx="3840480" cy="1828800"/>
          </a:xfrm>
          <a:prstGeom prst="roundRect">
            <a:avLst>
              <a:gd name="adj" fmla="val 5000"/>
            </a:avLst>
          </a:prstGeom>
          <a:solidFill>
            <a:srgbClr val="F3F3F3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365760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78D4"/>
                </a:solidFill>
              </a:rPr>
              <a:t>Pricing Lag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0080" y="4206240"/>
            <a:ext cx="3474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Pricing strategy cannot respond to market changes in real-time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0" y="3474720"/>
            <a:ext cx="3840480" cy="1828800"/>
          </a:xfrm>
          <a:prstGeom prst="roundRect">
            <a:avLst>
              <a:gd name="adj" fmla="val 5000"/>
            </a:avLst>
          </a:prstGeom>
          <a:solidFill>
            <a:srgbClr val="F3F3F3"/>
          </a:solidFill>
          <a:ln/>
        </p:spPr>
      </p:sp>
      <p:sp>
        <p:nvSpPr>
          <p:cNvPr id="14" name="Text 12"/>
          <p:cNvSpPr/>
          <p:nvPr/>
        </p:nvSpPr>
        <p:spPr>
          <a:xfrm>
            <a:off x="4754880" y="365760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78D4"/>
                </a:solidFill>
              </a:rPr>
              <a:t>Inefficient Marketing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754880" y="4206240"/>
            <a:ext cx="3474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Marketing lacks precise targeting, ROI difficult to measure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</a:rPr>
              <a:t>Solution Overview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1371600" cy="4572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188720"/>
            <a:ext cx="77724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666666"/>
                </a:solidFill>
              </a:rPr>
              <a:t>5 AI Agents collaborating, covering the full retail chain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666666"/>
                </a:solidFill>
              </a:rPr>
              <a:t>Unified customer data platform connecting App / Store / E-commerce / Social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666666"/>
                </a:solidFill>
              </a:rPr>
              <a:t>Each agent focuses on one domain, collaborating via A2A Protocol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666666"/>
                </a:solidFill>
              </a:rPr>
              <a:t>Human-in-the-Loop: critical decisions retain human approval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78D4"/>
                </a:solidFill>
              </a:rPr>
              <a:t>Deep Asia market adaptation (privacy, payments, e-commerce ecosystem)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</a:rPr>
              <a:t>5 Agent Architecture Design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1371600" cy="4572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371600"/>
            <a:ext cx="1554480" cy="1097280"/>
          </a:xfrm>
          <a:prstGeom prst="roundRect">
            <a:avLst>
              <a:gd name="adj" fmla="val 8333"/>
            </a:avLst>
          </a:prstGeom>
          <a:solidFill>
            <a:srgbClr val="0078D4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371600"/>
            <a:ext cx="1554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Customer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Understanding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194560" y="1371600"/>
            <a:ext cx="1554480" cy="1097280"/>
          </a:xfrm>
          <a:prstGeom prst="roundRect">
            <a:avLst>
              <a:gd name="adj" fmla="val 8333"/>
            </a:avLst>
          </a:prstGeom>
          <a:solidFill>
            <a:srgbClr val="0078D4"/>
          </a:solidFill>
          <a:ln/>
        </p:spPr>
      </p:sp>
      <p:sp>
        <p:nvSpPr>
          <p:cNvPr id="7" name="Text 5"/>
          <p:cNvSpPr/>
          <p:nvPr/>
        </p:nvSpPr>
        <p:spPr>
          <a:xfrm>
            <a:off x="2194560" y="1371600"/>
            <a:ext cx="1554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Personalization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931920" y="1371600"/>
            <a:ext cx="1554480" cy="1097280"/>
          </a:xfrm>
          <a:prstGeom prst="roundRect">
            <a:avLst>
              <a:gd name="adj" fmla="val 8333"/>
            </a:avLst>
          </a:prstGeom>
          <a:solidFill>
            <a:srgbClr val="0078D4"/>
          </a:solidFill>
          <a:ln/>
        </p:spPr>
      </p:sp>
      <p:sp>
        <p:nvSpPr>
          <p:cNvPr id="9" name="Text 7"/>
          <p:cNvSpPr/>
          <p:nvPr/>
        </p:nvSpPr>
        <p:spPr>
          <a:xfrm>
            <a:off x="3931920" y="1371600"/>
            <a:ext cx="1554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Inventory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669280" y="1371600"/>
            <a:ext cx="1554480" cy="1097280"/>
          </a:xfrm>
          <a:prstGeom prst="roundRect">
            <a:avLst>
              <a:gd name="adj" fmla="val 8333"/>
            </a:avLst>
          </a:prstGeom>
          <a:solidFill>
            <a:srgbClr val="0078D4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0" y="1371600"/>
            <a:ext cx="1554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Pricing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406640" y="1371600"/>
            <a:ext cx="1554480" cy="1097280"/>
          </a:xfrm>
          <a:prstGeom prst="roundRect">
            <a:avLst>
              <a:gd name="adj" fmla="val 8333"/>
            </a:avLst>
          </a:prstGeom>
          <a:solidFill>
            <a:srgbClr val="0078D4"/>
          </a:solidFill>
          <a:ln/>
        </p:spPr>
      </p:sp>
      <p:sp>
        <p:nvSpPr>
          <p:cNvPr id="13" name="Text 11"/>
          <p:cNvSpPr/>
          <p:nvPr/>
        </p:nvSpPr>
        <p:spPr>
          <a:xfrm>
            <a:off x="7406640" y="1371600"/>
            <a:ext cx="1554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Marketing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2926080"/>
            <a:ext cx="8229600" cy="548640"/>
          </a:xfrm>
          <a:prstGeom prst="rect">
            <a:avLst/>
          </a:prstGeom>
          <a:solidFill>
            <a:srgbClr val="E8F0FE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29260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A4A"/>
                </a:solidFill>
              </a:rPr>
              <a:t>Orchestration: Azure AI Foundry + Agent Framework + A2A Protocol + MCP Gateway (APIM)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840480"/>
            <a:ext cx="8229600" cy="548640"/>
          </a:xfrm>
          <a:prstGeom prst="rect">
            <a:avLst/>
          </a:prstGeom>
          <a:solidFill>
            <a:srgbClr val="FFF3E0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" y="38404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A4A"/>
                </a:solidFill>
              </a:rPr>
              <a:t>Data Layer: Cosmos DB + Event Hubs + Fabric + Azure ML + Synthetic Persona (TinyTroupe)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</a:rPr>
              <a:t>Customer Understanding Agent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1371600" cy="4572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77724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78D4"/>
                </a:solidFill>
              </a:rPr>
              <a:t>Role: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666666"/>
                </a:solidFill>
              </a:rPr>
              <a:t>Build 360° customer view, unify cross-channel identity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0078D4"/>
                </a:solidFill>
              </a:rPr>
              <a:t>Technology: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666666"/>
                </a:solidFill>
              </a:rPr>
              <a:t>GPT-4o behavior understanding + Temporal Transformer + Synthetic Persona (TT205)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0078D4"/>
                </a:solidFill>
              </a:rPr>
              <a:t>Input: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666666"/>
                </a:solidFill>
              </a:rPr>
              <a:t>App behavior / Store RFID / E-commerce orders / Service records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0078D4"/>
                </a:solidFill>
              </a:rPr>
              <a:t>Output: </a:t>
            </a:r>
            <a:pPr indent="0" marL="0">
              <a:buNone/>
            </a:pPr>
            <a:r>
              <a:rPr lang="en-US" sz="1400" dirty="0">
                <a:solidFill>
                  <a:srgbClr val="666666"/>
                </a:solidFill>
              </a:rPr>
              <a:t>Unified persona + Behavior prediction vector + Customer segment tags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</a:rPr>
              <a:t>Personalization Agent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1371600" cy="4572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77724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78D4"/>
                </a:solidFill>
              </a:rPr>
              <a:t>Role: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666666"/>
                </a:solidFill>
              </a:rPr>
              <a:t>Cross-channel personalized recommendations for each customer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0078D4"/>
                </a:solidFill>
              </a:rPr>
              <a:t>Technology: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666666"/>
                </a:solidFill>
              </a:rPr>
              <a:t>U-A-L Triad (Understand-Act-Learn) + Hybrid AI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0078D4"/>
                </a:solidFill>
              </a:rPr>
              <a:t>Input: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666666"/>
                </a:solidFill>
              </a:rPr>
              <a:t>Customer persona + Real-time behavior + Inventory status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0078D4"/>
                </a:solidFill>
              </a:rPr>
              <a:t>Output: </a:t>
            </a:r>
            <a:pPr indent="0" marL="0">
              <a:buNone/>
            </a:pPr>
            <a:r>
              <a:rPr lang="en-US" sz="1400" dirty="0">
                <a:solidFill>
                  <a:srgbClr val="666666"/>
                </a:solidFill>
              </a:rPr>
              <a:t>Personalized recommendations + Next best action + Recommendation rationale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</a:rPr>
              <a:t>Inventory Agent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1371600" cy="4572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77724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78D4"/>
                </a:solidFill>
              </a:rPr>
              <a:t>Role: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666666"/>
                </a:solidFill>
              </a:rPr>
              <a:t>Demand forecasting + auto-replenishment decisions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0078D4"/>
                </a:solidFill>
              </a:rPr>
              <a:t>Technology: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666666"/>
                </a:solidFill>
              </a:rPr>
              <a:t>Prophet + LSTM time series + Weather/event features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0078D4"/>
                </a:solidFill>
              </a:rPr>
              <a:t>Input: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666666"/>
                </a:solidFill>
              </a:rPr>
              <a:t>Historical sales / RFID inventory / Weather / Promotions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0078D4"/>
                </a:solidFill>
              </a:rPr>
              <a:t>Output: </a:t>
            </a:r>
            <a:pPr indent="0" marL="0">
              <a:buNone/>
            </a:pPr>
            <a:r>
              <a:rPr lang="en-US" sz="1400" dirty="0">
                <a:solidFill>
                  <a:srgbClr val="666666"/>
                </a:solidFill>
              </a:rPr>
              <a:t>7-day demand forecast + Reorder suggestions + Slow-moving alerts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</a:rPr>
              <a:t>Pricing Agent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1371600" cy="4572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77724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78D4"/>
                </a:solidFill>
              </a:rPr>
              <a:t>Role: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666666"/>
                </a:solidFill>
              </a:rPr>
              <a:t>Dynamic pricing to maximize profit and turnover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0078D4"/>
                </a:solidFill>
              </a:rPr>
              <a:t>Technology: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666666"/>
                </a:solidFill>
              </a:rPr>
              <a:t>TT203 three-layer architecture (Data → ML → LLM) + Bayesian elasticity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0078D4"/>
                </a:solidFill>
              </a:rPr>
              <a:t>Input: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666666"/>
                </a:solidFill>
              </a:rPr>
              <a:t>Demand forecast / Competitor prices / Inventory levels / Costs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0078D4"/>
                </a:solidFill>
              </a:rPr>
              <a:t>Output: </a:t>
            </a:r>
            <a:pPr indent="0" marL="0">
              <a:buNone/>
            </a:pPr>
            <a:r>
              <a:rPr lang="en-US" sz="1400" dirty="0">
                <a:solidFill>
                  <a:srgbClr val="666666"/>
                </a:solidFill>
              </a:rPr>
              <a:t>Pricing recommendations + Promotion strategies + Profit forecast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</a:rPr>
              <a:t>Marketing Agent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1371600" cy="4572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77724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78D4"/>
                </a:solidFill>
              </a:rPr>
              <a:t>Role: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666666"/>
                </a:solidFill>
              </a:rPr>
              <a:t>Autonomous marketing campaign planning and budget optimization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0078D4"/>
                </a:solidFill>
              </a:rPr>
              <a:t>Technology: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666666"/>
                </a:solidFill>
              </a:rPr>
              <a:t>Reinforcement learning + A/B testing + ROI maximization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0078D4"/>
                </a:solidFill>
              </a:rPr>
              <a:t>Input: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666666"/>
                </a:solidFill>
              </a:rPr>
              <a:t>Customer personas / Market trends / Competitive dynamics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0078D4"/>
                </a:solidFill>
              </a:rPr>
              <a:t>Output: </a:t>
            </a:r>
            <a:pPr indent="0" marL="0">
              <a:buNone/>
            </a:pPr>
            <a:r>
              <a:rPr lang="en-US" sz="1400" dirty="0">
                <a:solidFill>
                  <a:srgbClr val="666666"/>
                </a:solidFill>
              </a:rPr>
              <a:t>Campaign plan + Budget allocation + Effectiveness forecast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</a:rPr>
              <a:t>Inter-Agent Collaboration Protocol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1371600" cy="4572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188720"/>
            <a:ext cx="77724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666666"/>
                </a:solidFill>
              </a:rPr>
              <a:t>Synchronous Calls: REST API real-time communication (e.g., personalized recommendations)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666666"/>
                </a:solidFill>
              </a:rPr>
              <a:t>Async Events: Event Hubs decoupled communication (e.g., inventory sync, marketing analytics)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666666"/>
                </a:solidFill>
              </a:rPr>
              <a:t>State Sharing: Cosmos DB unified state — all agents share real-time customer context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666666"/>
                </a:solidFill>
              </a:rPr>
              <a:t>Conflict Resolution: Priority-based + timestamp + Human-in-the-Loop escalation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78D4"/>
                </a:solidFill>
              </a:rPr>
              <a:t>Data Flow: Customer Understanding → Personalization → Inventory / Pricing / Marketing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</a:rPr>
              <a:t>Technical Architecture (3 Layers)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1371600" cy="4572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188720"/>
            <a:ext cx="77724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78D4"/>
                </a:solidFill>
              </a:rPr>
              <a:t>Application Layer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666666"/>
                </a:solidFill>
              </a:rPr>
              <a:t>Agent UI / Store POS / App / Mini Program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78D4"/>
                </a:solidFill>
              </a:rPr>
              <a:t>LLM Inference Layer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666666"/>
                </a:solidFill>
              </a:rPr>
              <a:t>Azure AI Foundry + GPT-4o for reasoning and generation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78D4"/>
                </a:solidFill>
              </a:rPr>
              <a:t>Prediction Model Layer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666666"/>
                </a:solidFill>
              </a:rPr>
              <a:t>Price elasticity model, demand forecasting engine, customer behavior prediction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78D4"/>
                </a:solidFill>
              </a:rPr>
              <a:t>Data Foundation Layer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666666"/>
                </a:solidFill>
              </a:rPr>
              <a:t>Cosmos DB vector storage + Event Hubs real-time stream + Fabric data lake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</a:rPr>
              <a:t>Azure Technology Stack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1371600" cy="4572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188720"/>
            <a:ext cx="2286000" cy="457200"/>
          </a:xfrm>
          <a:prstGeom prst="roundRect">
            <a:avLst>
              <a:gd name="adj" fmla="val 10000"/>
            </a:avLst>
          </a:prstGeom>
          <a:solidFill>
            <a:srgbClr val="0078D4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Azure AI Foundry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926080" y="118872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Agent Framework unified orchestration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737360"/>
            <a:ext cx="2286000" cy="457200"/>
          </a:xfrm>
          <a:prstGeom prst="roundRect">
            <a:avLst>
              <a:gd name="adj" fmla="val 10000"/>
            </a:avLst>
          </a:prstGeom>
          <a:solidFill>
            <a:srgbClr val="0078D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73736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Azure OpenAI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926080" y="173736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GPT-4o / GPT-4.1 inference engine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286000"/>
            <a:ext cx="2286000" cy="457200"/>
          </a:xfrm>
          <a:prstGeom prst="roundRect">
            <a:avLst>
              <a:gd name="adj" fmla="val 10000"/>
            </a:avLst>
          </a:prstGeom>
          <a:solidFill>
            <a:srgbClr val="0078D4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228600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Microsoft Fabric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926080" y="228600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Unified data analytics platform (OneLake)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834640"/>
            <a:ext cx="2286000" cy="457200"/>
          </a:xfrm>
          <a:prstGeom prst="roundRect">
            <a:avLst>
              <a:gd name="adj" fmla="val 10000"/>
            </a:avLst>
          </a:prstGeom>
          <a:solidFill>
            <a:srgbClr val="0078D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283464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Cosmos DB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926080" y="283464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Globally distributed state storage + Vector search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383280"/>
            <a:ext cx="2286000" cy="457200"/>
          </a:xfrm>
          <a:prstGeom prst="roundRect">
            <a:avLst>
              <a:gd name="adj" fmla="val 10000"/>
            </a:avLst>
          </a:prstGeom>
          <a:solidFill>
            <a:srgbClr val="0078D4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" y="338328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API Management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926080" y="338328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MCP Gateway unified gateway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931920"/>
            <a:ext cx="2286000" cy="457200"/>
          </a:xfrm>
          <a:prstGeom prst="roundRect">
            <a:avLst>
              <a:gd name="adj" fmla="val 10000"/>
            </a:avLst>
          </a:prstGeom>
          <a:solidFill>
            <a:srgbClr val="0078D4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393192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Azure Monitor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2926080" y="393192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Agent behavior monitoring + alerting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4480560"/>
            <a:ext cx="2286000" cy="457200"/>
          </a:xfrm>
          <a:prstGeom prst="roundRect">
            <a:avLst>
              <a:gd name="adj" fmla="val 10000"/>
            </a:avLst>
          </a:prstGeom>
          <a:solidFill>
            <a:srgbClr val="0078D4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48056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Azure ML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2926080" y="448056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Model training and deployment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57200" y="5029200"/>
            <a:ext cx="2286000" cy="457200"/>
          </a:xfrm>
          <a:prstGeom prst="roundRect">
            <a:avLst>
              <a:gd name="adj" fmla="val 10000"/>
            </a:avLst>
          </a:prstGeom>
          <a:solidFill>
            <a:srgbClr val="0078D4"/>
          </a:solidFill>
          <a:ln/>
        </p:spPr>
      </p:sp>
      <p:sp>
        <p:nvSpPr>
          <p:cNvPr id="26" name="Text 24"/>
          <p:cNvSpPr/>
          <p:nvPr/>
        </p:nvSpPr>
        <p:spPr>
          <a:xfrm>
            <a:off x="457200" y="502920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Event Hubs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2926080" y="502920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Real-time event stream processing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</a:rPr>
              <a:t>Asia-Specific Considerations (1/2)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1371600" cy="4572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188720"/>
            <a:ext cx="77724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666666"/>
                </a:solidFill>
              </a:rPr>
              <a:t>Privacy: PIPL (China) / APPI (Japan) / PDPA (SEA) — dynamically adjusted per region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666666"/>
                </a:solidFill>
              </a:rPr>
              <a:t>Multilingual: LLM native multilingual + Agent language preference config (CN/JP/KR/EN)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666666"/>
                </a:solidFill>
              </a:rPr>
              <a:t>Synthetic Persona: Solves cold start in new markets, no real PII needed for modeling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666666"/>
                </a:solidFill>
              </a:rPr>
              <a:t>Cultural adaptation: Consumer habits, aesthetic preferences, holiday marketing per market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666666"/>
                </a:solidFill>
              </a:rPr>
              <a:t>Data localization: Cosmos DB Asia-Pacific deployment, data stays in-region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</a:rPr>
              <a:t>Asia-Specific Considerations (2/2)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1371600" cy="4572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188720"/>
            <a:ext cx="77724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666666"/>
                </a:solidFill>
              </a:rPr>
              <a:t>Payment fragmentation: MCP unified payment gateway for WeChat / Alipay / Line Pay etc.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666666"/>
                </a:solidFill>
              </a:rPr>
              <a:t>Urban-rural: StoreStrategy tiered approach — Tier 1 cities vs lower-tier markets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666666"/>
                </a:solidFill>
              </a:rPr>
              <a:t>E-commerce: JD / Tmall / Rakuten / Shopee multi-platform adaptation via APIM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666666"/>
                </a:solidFill>
              </a:rPr>
              <a:t>Social commerce: Xiaohongshu / Douyin / Instagram content discovery pipeline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666666"/>
                </a:solidFill>
              </a:rPr>
              <a:t>Logistics: Instant delivery (China) vs standard delivery (Japan / SEA)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</a:rPr>
              <a:t>Scenario 1 — Cross-Channel Personalization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1371600" cy="4572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188720"/>
            <a:ext cx="77724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666666"/>
                </a:solidFill>
              </a:rPr>
              <a:t>Scenario: Customer browses fleece jacket on App, receives personalized recommendation in-store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666666"/>
                </a:solidFill>
              </a:rPr>
              <a:t>① Customer Understanding Agent collects multi-channel behavior data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666666"/>
                </a:solidFill>
              </a:rPr>
              <a:t>② Personalization Agent generates personalized recommendations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666666"/>
                </a:solidFill>
              </a:rPr>
              <a:t>③ Store Agent pushes outfit suggestions to in-store display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666666"/>
                </a:solidFill>
              </a:rPr>
              <a:t>④ Customer scans to purchase → feedback loops back to update persona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78D4"/>
                </a:solidFill>
              </a:rPr>
              <a:t>Expected Impact: Conversion +35%, AOV +20%, CSAT up to 85%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</a:rPr>
              <a:t>Scenario 2 — Intelligent Inventory Management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1371600" cy="4572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188720"/>
            <a:ext cx="77724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666666"/>
                </a:solidFill>
              </a:rPr>
              <a:t>Scenario: During seasonal transition, auto-predict demand and adjust inventory allocation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666666"/>
                </a:solidFill>
              </a:rPr>
              <a:t>① Inventory Agent analyzes historical sales + weather data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666666"/>
                </a:solidFill>
              </a:rPr>
              <a:t>② Demand forecast: 7-day sales prediction + safety stock calculation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666666"/>
                </a:solidFill>
              </a:rPr>
              <a:t>③ Auto-replenishment: Generate replenishment orders to warehouse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666666"/>
                </a:solidFill>
              </a:rPr>
              <a:t>④ Pricing Agent adjusts promotion prices for slow-moving items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78D4"/>
                </a:solidFill>
              </a:rPr>
              <a:t>Expected Impact: Waste -50%, stockout -60%, turnover +40%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</a:rPr>
              <a:t>Scenario 3 — Dynamic Pricing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1371600" cy="4572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188720"/>
            <a:ext cx="77724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666666"/>
                </a:solidFill>
              </a:rPr>
              <a:t>Scenario: When competitors cut prices, auto-evaluate and adjust pricing strategy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666666"/>
                </a:solidFill>
              </a:rPr>
              <a:t>① Pricing Agent monitors competitor price changes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666666"/>
                </a:solidFill>
              </a:rPr>
              <a:t>② Elasticity analysis: Price elasticity model evaluates profit impact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666666"/>
                </a:solidFill>
              </a:rPr>
              <a:t>③ Strategy generation: TT203 three-layer architecture decision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666666"/>
                </a:solidFill>
              </a:rPr>
              <a:t>④ Human approval: Critical price changes require confirmation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78D4"/>
                </a:solidFill>
              </a:rPr>
              <a:t>Expected Impact: Margin +15%, price response from 7 days to 2 hours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</a:rPr>
              <a:t>Expected Impact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1371600" cy="4572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371600"/>
            <a:ext cx="1554480" cy="2286000"/>
          </a:xfrm>
          <a:prstGeom prst="roundRect">
            <a:avLst>
              <a:gd name="adj" fmla="val 5882"/>
            </a:avLst>
          </a:prstGeom>
          <a:solidFill>
            <a:srgbClr val="F3F3F3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1554480"/>
            <a:ext cx="1554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78D4"/>
                </a:solidFill>
              </a:rPr>
              <a:t>+40%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274320" y="2560320"/>
            <a:ext cx="1554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Same-Store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Sales Growth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011680" y="1371600"/>
            <a:ext cx="1554480" cy="2286000"/>
          </a:xfrm>
          <a:prstGeom prst="roundRect">
            <a:avLst>
              <a:gd name="adj" fmla="val 5882"/>
            </a:avLst>
          </a:prstGeom>
          <a:solidFill>
            <a:srgbClr val="F3F3F3"/>
          </a:solidFill>
          <a:ln/>
        </p:spPr>
      </p:sp>
      <p:sp>
        <p:nvSpPr>
          <p:cNvPr id="8" name="Text 6"/>
          <p:cNvSpPr/>
          <p:nvPr/>
        </p:nvSpPr>
        <p:spPr>
          <a:xfrm>
            <a:off x="2011680" y="1554480"/>
            <a:ext cx="1554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78D4"/>
                </a:solidFill>
              </a:rPr>
              <a:t>-50%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2011680" y="2560320"/>
            <a:ext cx="1554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Inventory Waste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Reduction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749040" y="1371600"/>
            <a:ext cx="1554480" cy="2286000"/>
          </a:xfrm>
          <a:prstGeom prst="roundRect">
            <a:avLst>
              <a:gd name="adj" fmla="val 5882"/>
            </a:avLst>
          </a:prstGeom>
          <a:solidFill>
            <a:srgbClr val="F3F3F3"/>
          </a:solidFill>
          <a:ln/>
        </p:spPr>
      </p:sp>
      <p:sp>
        <p:nvSpPr>
          <p:cNvPr id="11" name="Text 9"/>
          <p:cNvSpPr/>
          <p:nvPr/>
        </p:nvSpPr>
        <p:spPr>
          <a:xfrm>
            <a:off x="3749040" y="1554480"/>
            <a:ext cx="1554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78D4"/>
                </a:solidFill>
              </a:rPr>
              <a:t>85%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3749040" y="2560320"/>
            <a:ext cx="1554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Customer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Satisfaction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0" y="1371600"/>
            <a:ext cx="1554480" cy="2286000"/>
          </a:xfrm>
          <a:prstGeom prst="roundRect">
            <a:avLst>
              <a:gd name="adj" fmla="val 5882"/>
            </a:avLst>
          </a:prstGeom>
          <a:solidFill>
            <a:srgbClr val="F3F3F3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0" y="1554480"/>
            <a:ext cx="1554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78D4"/>
                </a:solidFill>
              </a:rPr>
              <a:t>+60%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5486400" y="2560320"/>
            <a:ext cx="1554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Customer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Lifetime Value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223760" y="1371600"/>
            <a:ext cx="1554480" cy="2286000"/>
          </a:xfrm>
          <a:prstGeom prst="roundRect">
            <a:avLst>
              <a:gd name="adj" fmla="val 5882"/>
            </a:avLst>
          </a:prstGeom>
          <a:solidFill>
            <a:srgbClr val="F3F3F3"/>
          </a:solidFill>
          <a:ln/>
        </p:spPr>
      </p:sp>
      <p:sp>
        <p:nvSpPr>
          <p:cNvPr id="17" name="Text 15"/>
          <p:cNvSpPr/>
          <p:nvPr/>
        </p:nvSpPr>
        <p:spPr>
          <a:xfrm>
            <a:off x="7223760" y="1554480"/>
            <a:ext cx="1554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78D4"/>
                </a:solidFill>
              </a:rPr>
              <a:t>35%+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7223760" y="2560320"/>
            <a:ext cx="1554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E-commerce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Penetration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</a:rPr>
              <a:t>Implementation Roadmap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1371600" cy="4572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188720"/>
            <a:ext cx="2743200" cy="4114800"/>
          </a:xfrm>
          <a:prstGeom prst="roundRect">
            <a:avLst>
              <a:gd name="adj" fmla="val 3333"/>
            </a:avLst>
          </a:prstGeom>
          <a:solidFill>
            <a:srgbClr val="E8F0FE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137160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78D4"/>
                </a:solidFill>
              </a:rPr>
              <a:t>Phase 1 (3 months)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274320" y="192024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4A"/>
                </a:solidFill>
              </a:rPr>
              <a:t>MVP Validation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560320"/>
            <a:ext cx="237744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10-store pilot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Customer Understanding + Personalization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Validate core value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00400" y="1188720"/>
            <a:ext cx="2743200" cy="4114800"/>
          </a:xfrm>
          <a:prstGeom prst="roundRect">
            <a:avLst>
              <a:gd name="adj" fmla="val 3333"/>
            </a:avLst>
          </a:prstGeom>
          <a:solidFill>
            <a:srgbClr val="FFF3E0"/>
          </a:solidFill>
          <a:ln/>
        </p:spPr>
      </p:sp>
      <p:sp>
        <p:nvSpPr>
          <p:cNvPr id="9" name="Text 7"/>
          <p:cNvSpPr/>
          <p:nvPr/>
        </p:nvSpPr>
        <p:spPr>
          <a:xfrm>
            <a:off x="3200400" y="137160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78D4"/>
                </a:solidFill>
              </a:rPr>
              <a:t>Phase 2 (6 months)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200400" y="192024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4A"/>
                </a:solidFill>
              </a:rPr>
              <a:t>Scale Deployment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383280" y="2560320"/>
            <a:ext cx="237744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100 stores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Add Inventory + Pricing Agent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Full chain integration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126480" y="1188720"/>
            <a:ext cx="2743200" cy="4114800"/>
          </a:xfrm>
          <a:prstGeom prst="roundRect">
            <a:avLst>
              <a:gd name="adj" fmla="val 3333"/>
            </a:avLst>
          </a:prstGeom>
          <a:solidFill>
            <a:srgbClr val="E8F5E9"/>
          </a:solidFill>
          <a:ln/>
        </p:spPr>
      </p:sp>
      <p:sp>
        <p:nvSpPr>
          <p:cNvPr id="13" name="Text 11"/>
          <p:cNvSpPr/>
          <p:nvPr/>
        </p:nvSpPr>
        <p:spPr>
          <a:xfrm>
            <a:off x="6126480" y="137160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78D4"/>
                </a:solidFill>
              </a:rPr>
              <a:t>Phase 3 (12 months)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126480" y="192024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4A"/>
                </a:solidFill>
              </a:rPr>
              <a:t>Full Omnichannel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309360" y="2560320"/>
            <a:ext cx="237744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All channels online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5 Agent full collaboration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Continuous optimization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</a:rPr>
              <a:t>Risks &amp; Mitigations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1371600" cy="4572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188720"/>
            <a:ext cx="3657600" cy="1005840"/>
          </a:xfrm>
          <a:prstGeom prst="roundRect">
            <a:avLst>
              <a:gd name="adj" fmla="val 4545"/>
            </a:avLst>
          </a:prstGeom>
          <a:solidFill>
            <a:srgbClr val="FFF3E0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23444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5100"/>
                </a:solidFill>
              </a:rPr>
              <a:t>⚠️ Hallucination Risk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1600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LLM generates inaccurate information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389120" y="1188720"/>
            <a:ext cx="4389120" cy="1005840"/>
          </a:xfrm>
          <a:prstGeom prst="roundRect">
            <a:avLst>
              <a:gd name="adj" fmla="val 4545"/>
            </a:avLst>
          </a:prstGeom>
          <a:solidFill>
            <a:srgbClr val="E8F5E9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0" y="1371600"/>
            <a:ext cx="4023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E7D32"/>
                </a:solidFill>
              </a:rPr>
              <a:t>✅ RAG + fact-checking + human review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377440"/>
            <a:ext cx="3657600" cy="1005840"/>
          </a:xfrm>
          <a:prstGeom prst="roundRect">
            <a:avLst>
              <a:gd name="adj" fmla="val 4545"/>
            </a:avLst>
          </a:prstGeom>
          <a:solidFill>
            <a:srgbClr val="FFF3E0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42316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5100"/>
                </a:solidFill>
              </a:rPr>
              <a:t>⚠️ Latency Risk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" y="278892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Agent response time too long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389120" y="2377440"/>
            <a:ext cx="4389120" cy="1005840"/>
          </a:xfrm>
          <a:prstGeom prst="roundRect">
            <a:avLst>
              <a:gd name="adj" fmla="val 4545"/>
            </a:avLst>
          </a:prstGeom>
          <a:solidFill>
            <a:srgbClr val="E8F5E9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0" y="2560320"/>
            <a:ext cx="4023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E7D32"/>
                </a:solidFill>
              </a:rPr>
              <a:t>✅ Event-driven + caching + async fallback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3566160"/>
            <a:ext cx="3657600" cy="1005840"/>
          </a:xfrm>
          <a:prstGeom prst="roundRect">
            <a:avLst>
              <a:gd name="adj" fmla="val 4545"/>
            </a:avLst>
          </a:prstGeom>
          <a:solidFill>
            <a:srgbClr val="FFF3E0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361188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5100"/>
                </a:solidFill>
              </a:rPr>
              <a:t>⚠️ Compliance Risk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397764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Data privacy regulation violations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389120" y="3566160"/>
            <a:ext cx="4389120" cy="1005840"/>
          </a:xfrm>
          <a:prstGeom prst="roundRect">
            <a:avLst>
              <a:gd name="adj" fmla="val 4545"/>
            </a:avLst>
          </a:prstGeom>
          <a:solidFill>
            <a:srgbClr val="E8F5E9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0" y="3749040"/>
            <a:ext cx="4023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E7D32"/>
                </a:solidFill>
              </a:rPr>
              <a:t>✅ Synthetic Persona + data localization + audit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4754880"/>
            <a:ext cx="3657600" cy="1005840"/>
          </a:xfrm>
          <a:prstGeom prst="roundRect">
            <a:avLst>
              <a:gd name="adj" fmla="val 4545"/>
            </a:avLst>
          </a:prstGeom>
          <a:solidFill>
            <a:srgbClr val="FFF3E0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" y="480060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5100"/>
                </a:solidFill>
              </a:rPr>
              <a:t>⚠️ Cost Risk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0080" y="516636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API call costs too high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389120" y="4754880"/>
            <a:ext cx="4389120" cy="1005840"/>
          </a:xfrm>
          <a:prstGeom prst="roundRect">
            <a:avLst>
              <a:gd name="adj" fmla="val 4545"/>
            </a:avLst>
          </a:prstGeom>
          <a:solidFill>
            <a:srgbClr val="E8F5E9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0" y="4937760"/>
            <a:ext cx="4023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E7D32"/>
                </a:solidFill>
              </a:rPr>
              <a:t>✅ Small models for simple tasks + caching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</a:rPr>
              <a:t>Cost Estimation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1371600" cy="4572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972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</a:rPr>
              <a:t>Prototype Phase Monthly Cost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1645920"/>
            <a:ext cx="8229600" cy="41148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64592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291840" y="164592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Monthly Cost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120640" y="1645920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Description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103120"/>
            <a:ext cx="8229600" cy="4114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210312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A4A"/>
                </a:solidFill>
              </a:rPr>
              <a:t>Azure OpenAI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291840" y="210312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A4A"/>
                </a:solidFill>
              </a:rPr>
              <a:t>~$500/mo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120640" y="2103120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GPT-4o inference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560320"/>
            <a:ext cx="8229600" cy="41148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256032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A4A"/>
                </a:solidFill>
              </a:rPr>
              <a:t>Cosmos DB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291840" y="256032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A4A"/>
                </a:solidFill>
              </a:rPr>
              <a:t>~$200/mo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120640" y="2560320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Globally distributed storage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3017520"/>
            <a:ext cx="8229600" cy="4114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301752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A4A"/>
                </a:solidFill>
              </a:rPr>
              <a:t>Azure ML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291840" y="301752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A4A"/>
                </a:solidFill>
              </a:rPr>
              <a:t>~$300/mo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120640" y="3017520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Model training and deployment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57200" y="3474720"/>
            <a:ext cx="8229600" cy="41148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347472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A4A"/>
                </a:solidFill>
              </a:rPr>
              <a:t>Other Services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291840" y="347472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A4A"/>
                </a:solidFill>
              </a:rPr>
              <a:t>~$200/mo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120640" y="3474720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Event Hubs, APIM, Monitor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57200" y="3931920"/>
            <a:ext cx="8229600" cy="4114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6" name="Text 24"/>
          <p:cNvSpPr/>
          <p:nvPr/>
        </p:nvSpPr>
        <p:spPr>
          <a:xfrm>
            <a:off x="548640" y="393192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Total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3291840" y="393192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~$1,300/mo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120640" y="3931920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Prototype phase estimate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572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66666"/>
                </a:solidFill>
              </a:rPr>
              <a:t>Note: Production costs scale linearly with store count, expected ROI &gt; 10x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</a:rPr>
              <a:t>Summary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1371600" cy="4572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188720"/>
            <a:ext cx="77724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1B2A4A"/>
                </a:solidFill>
              </a:rPr>
              <a:t>Not just a technical solution, but a paradigm shift in retail digital transformation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666666"/>
                </a:solidFill>
              </a:rPr>
              <a:t>✓  5 Agents collaboratively solve 4 core retail pain points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666666"/>
                </a:solidFill>
              </a:rPr>
              <a:t>✓  Azure full-stack, enterprise-grade security and scalability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666666"/>
                </a:solidFill>
              </a:rPr>
              <a:t>✓  Deep Asia market adaptation, differentiated competitive advantage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666666"/>
                </a:solidFill>
              </a:rPr>
              <a:t>✓  Executable 3-phase implementation roadmap, risk-controlled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666666"/>
                </a:solidFill>
              </a:rPr>
              <a:t>✓  Expected ROI &gt; 10x, validate core value within 3 months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78D4"/>
                </a:solidFill>
              </a:rPr>
              <a:t>Through AI Agent collaboration, move Uniqlo from "experience-driven" to "data-intelligence-driven"</a:t>
            </a:r>
            <a:endParaRPr lang="en-US" sz="1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Thank You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谢谢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32004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B0B0B0"/>
                </a:solidFill>
              </a:rPr>
              <a:t>Q &amp; 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5720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88888"/>
                </a:solidFill>
              </a:rPr>
              <a:t>Presenter: Yuan Wang  |  Senior Solution Engineer, Azure &amp; AI Platform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5029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Project 46 — Autonomous Retail Intelligence Agent Platform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Microsoft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AMA Capstone Project 46</dc:subject>
  <dc:creator>Yuan Wang</dc:creator>
  <cp:lastModifiedBy>Yuan Wang</cp:lastModifiedBy>
  <cp:revision>1</cp:revision>
  <dcterms:created xsi:type="dcterms:W3CDTF">2026-05-05T14:39:23Z</dcterms:created>
  <dcterms:modified xsi:type="dcterms:W3CDTF">2026-05-05T14:39:23Z</dcterms:modified>
</cp:coreProperties>
</file>