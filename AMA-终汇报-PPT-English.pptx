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0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  <a:latin typeface="Microsoft YaHei"/>
              </a:defRPr>
            </a:pPr>
            <a:r>
              <a:t>Autonomous Retail Intelligence</a:t>
            </a:r>
            <a:br/>
            <a:r>
              <a:t>Agent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01752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D700"/>
                </a:solidFill>
                <a:latin typeface="Microsoft YaHei"/>
              </a:defRPr>
            </a:pPr>
            <a:r>
              <a:t>Multi-Agent Intelligent Retail Platform Based on Uniqlo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0" y="3931920"/>
            <a:ext cx="3017520" cy="36576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38912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20"/>
              </a:spcAft>
              <a:defRPr sz="1800" b="0">
                <a:solidFill>
                  <a:srgbClr val="CCCCCC"/>
                </a:solidFill>
                <a:latin typeface="Microsoft YaHei"/>
              </a:defRPr>
            </a:pPr>
            <a:r>
              <a:t>Presenter: Yuan Wang  |  Senior Solution Engineer, CAIP</a:t>
            </a:r>
          </a:p>
          <a:p>
            <a:pPr algn="ctr">
              <a:spcAft>
                <a:spcPts val="720"/>
              </a:spcAft>
              <a:defRPr sz="1800" b="0">
                <a:solidFill>
                  <a:srgbClr val="CCCCCC"/>
                </a:solidFill>
                <a:latin typeface="Microsoft YaHei"/>
              </a:defRPr>
            </a:pPr>
            <a:r>
              <a:t>AMA Capstone Project  |  Project 46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554480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700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2103120" y="1719072"/>
            <a:ext cx="109728" cy="109728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377440" y="155448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Project Background &amp; Challenges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029967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700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9" name="Rectangle 8"/>
          <p:cNvSpPr/>
          <p:nvPr/>
        </p:nvSpPr>
        <p:spPr>
          <a:xfrm>
            <a:off x="2103120" y="2194559"/>
            <a:ext cx="109728" cy="109728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77440" y="2029967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Solution Overview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505456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700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03120" y="2670048"/>
            <a:ext cx="109728" cy="109728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77440" y="2505456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5 Agent Architecture Design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980944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700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03120" y="3145536"/>
            <a:ext cx="109728" cy="109728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7440" y="2980944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Technical Architecture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3456432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700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03120" y="3621024"/>
            <a:ext cx="109728" cy="109728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77440" y="3456432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Asia-Specific Considerations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31920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700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103120" y="4096512"/>
            <a:ext cx="109728" cy="109728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377440" y="393192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Business Scenario Demos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4407408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700"/>
                </a:solidFill>
                <a:latin typeface="Microsoft YaHei"/>
              </a:defRPr>
            </a:pPr>
            <a:r>
              <a:t>07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03120" y="4572000"/>
            <a:ext cx="109728" cy="109728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77440" y="4407408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Expected Impact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4882896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700"/>
                </a:solidFill>
                <a:latin typeface="Microsoft YaHei"/>
              </a:defRPr>
            </a:pPr>
            <a:r>
              <a:t>08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103120" y="5047488"/>
            <a:ext cx="109728" cy="109728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377440" y="4882896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Implementation Roadmap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5358384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700"/>
                </a:solidFill>
                <a:latin typeface="Microsoft YaHei"/>
              </a:defRPr>
            </a:pPr>
            <a:r>
              <a:t>09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03120" y="5522976"/>
            <a:ext cx="109728" cy="109728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377440" y="5358384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Risks &amp; Mitigations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71600" y="5833872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700"/>
                </a:solidFill>
                <a:latin typeface="Microsoft YaHei"/>
              </a:defRPr>
            </a:pPr>
            <a:r>
              <a:t>10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103120" y="5998464"/>
            <a:ext cx="109728" cy="109728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377440" y="5833872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Q &amp; 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Project Background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332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Global retail faces digital transformation; traditional models are unsustainable</a:t>
            </a:r>
          </a:p>
          <a:p>
            <a:pPr>
              <a:spcAft>
                <a:spcPts val="9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Uniqlo (Fast Retailing): 3,500+ global stores, 1.3B units annual production</a:t>
            </a:r>
          </a:p>
          <a:p>
            <a:pPr>
              <a:spcAft>
                <a:spcPts val="9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Core Pain Point: Data Silos → Channels cannot share data</a:t>
            </a:r>
          </a:p>
          <a:p>
            <a:pPr>
              <a:spcAft>
                <a:spcPts val="9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Core Pain Point: Insufficient personalization → One-size-fits-all experience</a:t>
            </a:r>
          </a:p>
          <a:p>
            <a:pPr>
              <a:spcAft>
                <a:spcPts val="9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Core Pain Point: Inventory Waste → Industry avg waste rate &gt;30%</a:t>
            </a:r>
          </a:p>
          <a:p>
            <a:pPr>
              <a:spcAft>
                <a:spcPts val="9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Core Pain Point: Pricing Lag → Cannot respond quickly to market changes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Business Challenges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2560320" cy="4114800"/>
          </a:xfrm>
          <a:prstGeom prst="roundRect">
            <a:avLst/>
          </a:prstGeom>
          <a:solidFill>
            <a:srgbClr val="E8EEF6"/>
          </a:solidFill>
          <a:ln w="12700">
            <a:solidFill>
              <a:srgbClr val="002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54480" y="2194560"/>
            <a:ext cx="914400" cy="914400"/>
          </a:xfrm>
          <a:prstGeom prst="ellipse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233172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2050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38328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2050"/>
                </a:solidFill>
                <a:latin typeface="Microsoft YaHei"/>
              </a:defRPr>
            </a:pPr>
            <a:r>
              <a:t>Data Silos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931920"/>
            <a:ext cx="21945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Customer data scattered across App, stores, e-commerce, social media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1828800"/>
            <a:ext cx="2560320" cy="4114800"/>
          </a:xfrm>
          <a:prstGeom prst="roundRect">
            <a:avLst/>
          </a:prstGeom>
          <a:solidFill>
            <a:srgbClr val="E8EEF6"/>
          </a:solidFill>
          <a:ln w="12700">
            <a:solidFill>
              <a:srgbClr val="002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389120" y="2194560"/>
            <a:ext cx="914400" cy="914400"/>
          </a:xfrm>
          <a:prstGeom prst="ellipse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233172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2050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40" y="338328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2050"/>
                </a:solidFill>
                <a:latin typeface="Microsoft YaHei"/>
              </a:defRPr>
            </a:pPr>
            <a:r>
              <a:t>Inventory Waste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40" y="3931920"/>
            <a:ext cx="21945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Industry avg waste rate 30%+, billions in annual losses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1828800"/>
            <a:ext cx="2560320" cy="4114800"/>
          </a:xfrm>
          <a:prstGeom prst="roundRect">
            <a:avLst/>
          </a:prstGeom>
          <a:solidFill>
            <a:srgbClr val="E8EEF6"/>
          </a:solidFill>
          <a:ln w="12700">
            <a:solidFill>
              <a:srgbClr val="002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223760" y="2194560"/>
            <a:ext cx="914400" cy="914400"/>
          </a:xfrm>
          <a:prstGeom prst="ellipse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0" y="233172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2050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338328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2050"/>
                </a:solidFill>
                <a:latin typeface="Microsoft YaHei"/>
              </a:defRPr>
            </a:pPr>
            <a:r>
              <a:t>Pricing Lag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3931920"/>
            <a:ext cx="21945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Pricing strategy cannot respond to market changes in real-time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35440" y="1828800"/>
            <a:ext cx="2560320" cy="4114800"/>
          </a:xfrm>
          <a:prstGeom prst="roundRect">
            <a:avLst/>
          </a:prstGeom>
          <a:solidFill>
            <a:srgbClr val="E8EEF6"/>
          </a:solidFill>
          <a:ln w="12700">
            <a:solidFill>
              <a:srgbClr val="002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058400" y="2194560"/>
            <a:ext cx="914400" cy="914400"/>
          </a:xfrm>
          <a:prstGeom prst="ellipse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0" y="233172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2050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0" y="338328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2050"/>
                </a:solidFill>
                <a:latin typeface="Microsoft YaHei"/>
              </a:defRPr>
            </a:pPr>
            <a:r>
              <a:t>Inefficient Marketing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18320" y="3931920"/>
            <a:ext cx="21945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Marketing lacks precise targeting, ROI difficult to measure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Solution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332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5 AI Agents collaborating, covering the full retail chain</a:t>
            </a:r>
          </a:p>
          <a:p>
            <a:pPr>
              <a:spcAft>
                <a:spcPts val="9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Unified customer data platform connecting App / Store / E-commerce / Social</a:t>
            </a:r>
          </a:p>
          <a:p>
            <a:pPr>
              <a:spcAft>
                <a:spcPts val="9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Autonomous decisions + human approval, balancing efficiency and risk</a:t>
            </a:r>
          </a:p>
          <a:p>
            <a:pPr>
              <a:spcAft>
                <a:spcPts val="9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Azure full-stack, enterprise-grade security and scalability</a:t>
            </a:r>
          </a:p>
          <a:p>
            <a:pPr>
              <a:spcAft>
                <a:spcPts val="9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Deep Asia market adaptation (privacy, payments, e-commerce ecosystem)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5 Agent Architecture Design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011680"/>
            <a:ext cx="2011680" cy="164592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Customer</a:t>
            </a:r>
            <a:br/>
            <a:r>
              <a:t>Understanding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175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D700"/>
                </a:solidFill>
                <a:latin typeface="Microsoft YaHei"/>
              </a:defRPr>
            </a:pPr>
            <a:r>
              <a:t>Customer Understanding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2011680"/>
            <a:ext cx="2011680" cy="164592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228600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Personalization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30175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D700"/>
                </a:solidFill>
                <a:latin typeface="Microsoft YaHei"/>
              </a:defRPr>
            </a:pPr>
            <a:r>
              <a:t>Personalization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0" y="2011680"/>
            <a:ext cx="2011680" cy="164592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0" y="228600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Inventory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30175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D700"/>
                </a:solidFill>
                <a:latin typeface="Microsoft YaHei"/>
              </a:defRPr>
            </a:pPr>
            <a:r>
              <a:t>Inventory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2011680"/>
            <a:ext cx="2011680" cy="164592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0" y="228600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Pricing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30175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D700"/>
                </a:solidFill>
                <a:latin typeface="Microsoft YaHei"/>
              </a:defRPr>
            </a:pPr>
            <a:r>
              <a:t>Pricing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01200" y="2011680"/>
            <a:ext cx="2011680" cy="164592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92640" y="228600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Marketing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30175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D700"/>
                </a:solidFill>
                <a:latin typeface="Microsoft YaHei"/>
              </a:defRPr>
            </a:pPr>
            <a:r>
              <a:t>Marketing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2468880" y="2560320"/>
            <a:ext cx="731520" cy="457200"/>
          </a:xfrm>
          <a:prstGeom prst="rightArrow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ight Arrow 20"/>
          <p:cNvSpPr/>
          <p:nvPr/>
        </p:nvSpPr>
        <p:spPr>
          <a:xfrm>
            <a:off x="4754880" y="2560320"/>
            <a:ext cx="731520" cy="457200"/>
          </a:xfrm>
          <a:prstGeom prst="rightArrow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ight Arrow 21"/>
          <p:cNvSpPr/>
          <p:nvPr/>
        </p:nvSpPr>
        <p:spPr>
          <a:xfrm>
            <a:off x="7040880" y="2560320"/>
            <a:ext cx="731520" cy="457200"/>
          </a:xfrm>
          <a:prstGeom prst="rightArrow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ight Arrow 22"/>
          <p:cNvSpPr/>
          <p:nvPr/>
        </p:nvSpPr>
        <p:spPr>
          <a:xfrm>
            <a:off x="9326880" y="2560320"/>
            <a:ext cx="731520" cy="457200"/>
          </a:xfrm>
          <a:prstGeom prst="rightArrow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114800"/>
            <a:ext cx="10515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  <a:defRPr sz="1600" b="0">
                <a:solidFill>
                  <a:srgbClr val="333333"/>
                </a:solidFill>
                <a:latin typeface="Microsoft YaHei"/>
              </a:defRPr>
            </a:pPr>
            <a:r>
              <a:t>Data Flow: Customer Understanding → Personalization → Inventory / Pricing / Marketing</a:t>
            </a:r>
          </a:p>
          <a:p>
            <a:pPr algn="l">
              <a:spcAft>
                <a:spcPts val="640"/>
              </a:spcAft>
              <a:defRPr sz="1600" b="0">
                <a:solidFill>
                  <a:srgbClr val="333333"/>
                </a:solidFill>
                <a:latin typeface="Microsoft YaHei"/>
              </a:defRPr>
            </a:pPr>
            <a:r>
              <a:t>Collaboration: Synchronous (REST API) + Async Events (Event Hubs)</a:t>
            </a:r>
          </a:p>
          <a:p>
            <a:pPr algn="l">
              <a:spcAft>
                <a:spcPts val="640"/>
              </a:spcAft>
              <a:defRPr sz="1600" b="0">
                <a:solidFill>
                  <a:srgbClr val="333333"/>
                </a:solidFill>
                <a:latin typeface="Microsoft YaHei"/>
              </a:defRPr>
            </a:pPr>
            <a:r>
              <a:t>State Sharing: Cosmos DB unified state management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Customer Understanding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D700"/>
                </a:solidFill>
                <a:latin typeface="Microsoft YaHei"/>
              </a:defRPr>
            </a:pPr>
            <a:r>
              <a:t>Build 360° Customer 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50"/>
              </a:spcAft>
              <a:defRPr sz="1700">
                <a:solidFill>
                  <a:srgbClr val="333333"/>
                </a:solidFill>
                <a:latin typeface="Microsoft YaHei"/>
              </a:defRPr>
            </a:pPr>
            <a:r>
              <a:t>• Role: Build 360° customer view, unify multi-channel data</a:t>
            </a:r>
          </a:p>
          <a:p>
            <a:pPr>
              <a:spcAft>
                <a:spcPts val="850"/>
              </a:spcAft>
              <a:defRPr sz="1700">
                <a:solidFill>
                  <a:srgbClr val="333333"/>
                </a:solidFill>
                <a:latin typeface="Microsoft YaHei"/>
              </a:defRPr>
            </a:pPr>
            <a:r>
              <a:t>• Tech: Synthetic Persona + Agent Memory + Vector Search</a:t>
            </a:r>
          </a:p>
          <a:p>
            <a:pPr>
              <a:spcAft>
                <a:spcPts val="850"/>
              </a:spcAft>
              <a:defRPr sz="1700">
                <a:solidFill>
                  <a:srgbClr val="333333"/>
                </a:solidFill>
                <a:latin typeface="Microsoft YaHei"/>
              </a:defRPr>
            </a:pPr>
            <a:r>
              <a:t>• Input: App behavior / Store RFID / E-commerce orders / Membership data</a:t>
            </a:r>
          </a:p>
          <a:p>
            <a:pPr>
              <a:spcAft>
                <a:spcPts val="850"/>
              </a:spcAft>
              <a:defRPr sz="1700">
                <a:solidFill>
                  <a:srgbClr val="333333"/>
                </a:solidFill>
                <a:latin typeface="Microsoft YaHei"/>
              </a:defRPr>
            </a:pPr>
            <a:r>
              <a:t>• Output: Unified persona + Behavior prediction + Churn warning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554480"/>
            <a:ext cx="5029200" cy="4114800"/>
          </a:xfrm>
          <a:prstGeom prst="roundRect">
            <a:avLst/>
          </a:prstGeom>
          <a:solidFill>
            <a:srgbClr val="E8EEF6"/>
          </a:solidFill>
          <a:ln w="12700">
            <a:solidFill>
              <a:srgbClr val="002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17373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2050"/>
                </a:solidFill>
                <a:latin typeface="Microsoft YaHei"/>
              </a:defRPr>
            </a:pPr>
            <a:r>
              <a:t>Core Capabilities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37744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5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Synthetic Persona solves cold start</a:t>
            </a:r>
          </a:p>
          <a:p>
            <a:pPr>
              <a:spcAft>
                <a:spcPts val="75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Agent Memory enables cross-session memory</a:t>
            </a:r>
          </a:p>
          <a:p>
            <a:pPr>
              <a:spcAft>
                <a:spcPts val="75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Vector search enables semantic customer matching</a:t>
            </a:r>
          </a:p>
          <a:p>
            <a:pPr>
              <a:spcAft>
                <a:spcPts val="75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Real-time behavior tracking and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Personalization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D700"/>
                </a:solidFill>
                <a:latin typeface="Microsoft YaHei"/>
              </a:defRPr>
            </a:pPr>
            <a:r>
              <a:t>Cross-Channel Personalized Recommendations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50"/>
              </a:spcAft>
              <a:defRPr sz="1700">
                <a:solidFill>
                  <a:srgbClr val="333333"/>
                </a:solidFill>
                <a:latin typeface="Microsoft YaHei"/>
              </a:defRPr>
            </a:pPr>
            <a:r>
              <a:t>• Role: Cross-channel personalized recommendations</a:t>
            </a:r>
          </a:p>
          <a:p>
            <a:pPr>
              <a:spcAft>
                <a:spcPts val="850"/>
              </a:spcAft>
              <a:defRPr sz="1700">
                <a:solidFill>
                  <a:srgbClr val="333333"/>
                </a:solidFill>
                <a:latin typeface="Microsoft YaHei"/>
              </a:defRPr>
            </a:pPr>
            <a:r>
              <a:t>• Tech: U-A-L Triad + Hybrid AI</a:t>
            </a:r>
          </a:p>
          <a:p>
            <a:pPr>
              <a:spcAft>
                <a:spcPts val="850"/>
              </a:spcAft>
              <a:defRPr sz="1700">
                <a:solidFill>
                  <a:srgbClr val="333333"/>
                </a:solidFill>
                <a:latin typeface="Microsoft YaHei"/>
              </a:defRPr>
            </a:pPr>
            <a:r>
              <a:t>• Input: Customer persona + Real-time behavior + Inventory data</a:t>
            </a:r>
          </a:p>
          <a:p>
            <a:pPr>
              <a:spcAft>
                <a:spcPts val="850"/>
              </a:spcAft>
              <a:defRPr sz="1700">
                <a:solidFill>
                  <a:srgbClr val="333333"/>
                </a:solidFill>
                <a:latin typeface="Microsoft YaHei"/>
              </a:defRPr>
            </a:pPr>
            <a:r>
              <a:t>• Output: Personalized recommendations + Next best action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554480"/>
            <a:ext cx="5029200" cy="4114800"/>
          </a:xfrm>
          <a:prstGeom prst="roundRect">
            <a:avLst/>
          </a:prstGeom>
          <a:solidFill>
            <a:srgbClr val="E8EEF6"/>
          </a:solidFill>
          <a:ln w="12700">
            <a:solidFill>
              <a:srgbClr val="002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17373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2050"/>
                </a:solidFill>
                <a:latin typeface="Microsoft YaHei"/>
              </a:defRPr>
            </a:pPr>
            <a:r>
              <a:t>U-A-L Triad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37744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5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Understanding: Deep customer intent comprehension</a:t>
            </a:r>
          </a:p>
          <a:p>
            <a:pPr>
              <a:spcAft>
                <a:spcPts val="75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Action: Intelligent next action recommendation</a:t>
            </a:r>
          </a:p>
          <a:p>
            <a:pPr>
              <a:spcAft>
                <a:spcPts val="75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Learning: Continuous learning to optimize recommendations</a:t>
            </a:r>
          </a:p>
          <a:p>
            <a:pPr>
              <a:spcAft>
                <a:spcPts val="75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Hybrid AI: Rules engine + deep learning fusion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Inventory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D700"/>
                </a:solidFill>
                <a:latin typeface="Microsoft YaHei"/>
              </a:defRPr>
            </a:pPr>
            <a:r>
              <a:t>Demand Forecasting + Auto-Replenishment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50"/>
              </a:spcAft>
              <a:defRPr sz="1700">
                <a:solidFill>
                  <a:srgbClr val="333333"/>
                </a:solidFill>
                <a:latin typeface="Microsoft YaHei"/>
              </a:defRPr>
            </a:pPr>
            <a:r>
              <a:t>• Role: Demand forecasting + auto-replenishment</a:t>
            </a:r>
          </a:p>
          <a:p>
            <a:pPr>
              <a:spcAft>
                <a:spcPts val="850"/>
              </a:spcAft>
              <a:defRPr sz="1700">
                <a:solidFill>
                  <a:srgbClr val="333333"/>
                </a:solidFill>
                <a:latin typeface="Microsoft YaHei"/>
              </a:defRPr>
            </a:pPr>
            <a:r>
              <a:t>• Tech: Prophet + LSTM hybrid prediction model</a:t>
            </a:r>
          </a:p>
          <a:p>
            <a:pPr>
              <a:spcAft>
                <a:spcPts val="850"/>
              </a:spcAft>
              <a:defRPr sz="1700">
                <a:solidFill>
                  <a:srgbClr val="333333"/>
                </a:solidFill>
                <a:latin typeface="Microsoft YaHei"/>
              </a:defRPr>
            </a:pPr>
            <a:r>
              <a:t>• Input: Historical sales / Weather / Promotions / Competition</a:t>
            </a:r>
          </a:p>
          <a:p>
            <a:pPr>
              <a:spcAft>
                <a:spcPts val="850"/>
              </a:spcAft>
              <a:defRPr sz="1700">
                <a:solidFill>
                  <a:srgbClr val="333333"/>
                </a:solidFill>
                <a:latin typeface="Microsoft YaHei"/>
              </a:defRPr>
            </a:pPr>
            <a:r>
              <a:t>• Output: 7-day demand forecast + replenishment suggestions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554480"/>
            <a:ext cx="5029200" cy="4114800"/>
          </a:xfrm>
          <a:prstGeom prst="roundRect">
            <a:avLst/>
          </a:prstGeom>
          <a:solidFill>
            <a:srgbClr val="E8EEF6"/>
          </a:solidFill>
          <a:ln w="12700">
            <a:solidFill>
              <a:srgbClr val="002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17373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2050"/>
                </a:solidFill>
                <a:latin typeface="Microsoft YaHei"/>
              </a:defRPr>
            </a:pPr>
            <a:r>
              <a:t>Prediction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37744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5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Prophet: Captures seasonality and trends</a:t>
            </a:r>
          </a:p>
          <a:p>
            <a:pPr>
              <a:spcAft>
                <a:spcPts val="75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LSTM: Learns complex non-linear patterns</a:t>
            </a:r>
          </a:p>
          <a:p>
            <a:pPr>
              <a:spcAft>
                <a:spcPts val="75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Hybrid model: Balances accuracy and interpretability</a:t>
            </a:r>
          </a:p>
          <a:p>
            <a:pPr>
              <a:spcAft>
                <a:spcPts val="75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Real-time: Weather/event triggers re-prediction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Pricing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D700"/>
                </a:solidFill>
                <a:latin typeface="Microsoft YaHei"/>
              </a:defRPr>
            </a:pPr>
            <a:r>
              <a:t>Dynamic Pricing to Maximize Profit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50"/>
              </a:spcAft>
              <a:defRPr sz="1700">
                <a:solidFill>
                  <a:srgbClr val="333333"/>
                </a:solidFill>
                <a:latin typeface="Microsoft YaHei"/>
              </a:defRPr>
            </a:pPr>
            <a:r>
              <a:t>• Role: Dynamic pricing to maximize profit and turnover</a:t>
            </a:r>
          </a:p>
          <a:p>
            <a:pPr>
              <a:spcAft>
                <a:spcPts val="850"/>
              </a:spcAft>
              <a:defRPr sz="1700">
                <a:solidFill>
                  <a:srgbClr val="333333"/>
                </a:solidFill>
                <a:latin typeface="Microsoft YaHei"/>
              </a:defRPr>
            </a:pPr>
            <a:r>
              <a:t>• Tech: Three-Layer Architecture（Data → ML → LLM）</a:t>
            </a:r>
          </a:p>
          <a:p>
            <a:pPr>
              <a:spcAft>
                <a:spcPts val="850"/>
              </a:spcAft>
              <a:defRPr sz="1700">
                <a:solidFill>
                  <a:srgbClr val="333333"/>
                </a:solidFill>
                <a:latin typeface="Microsoft YaHei"/>
              </a:defRPr>
            </a:pPr>
            <a:r>
              <a:t>• Core: Price elasticity linear regression model</a:t>
            </a:r>
          </a:p>
          <a:p>
            <a:pPr>
              <a:spcAft>
                <a:spcPts val="850"/>
              </a:spcAft>
              <a:defRPr sz="1700">
                <a:solidFill>
                  <a:srgbClr val="333333"/>
                </a:solidFill>
                <a:latin typeface="Microsoft YaHei"/>
              </a:defRPr>
            </a:pPr>
            <a:r>
              <a:t>• Output: Optimal price + profit impact forecast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554480"/>
            <a:ext cx="5029200" cy="4114800"/>
          </a:xfrm>
          <a:prstGeom prst="roundRect">
            <a:avLst/>
          </a:prstGeom>
          <a:solidFill>
            <a:srgbClr val="E8EEF6"/>
          </a:solidFill>
          <a:ln w="12700">
            <a:solidFill>
              <a:srgbClr val="002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17373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2050"/>
                </a:solidFill>
                <a:latin typeface="Microsoft YaHei"/>
              </a:defRPr>
            </a:pPr>
            <a:r>
              <a:t>Three-Layer Architecture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37744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5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Data Layer: Cleaning, aggregation, feature engineering</a:t>
            </a:r>
          </a:p>
          <a:p>
            <a:pPr>
              <a:spcAft>
                <a:spcPts val="75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ML Layer: Price elasticity modeling and optimization</a:t>
            </a:r>
          </a:p>
          <a:p>
            <a:pPr>
              <a:spcAft>
                <a:spcPts val="75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LLM Layer: Natural language pricing explanation</a:t>
            </a:r>
          </a:p>
          <a:p>
            <a:pPr>
              <a:spcAft>
                <a:spcPts val="75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Human approval: Critical price changes need confirmation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Marketing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D700"/>
                </a:solidFill>
                <a:latin typeface="Microsoft YaHei"/>
              </a:defRPr>
            </a:pPr>
            <a:r>
              <a:t>Autonomous Marketing + Budget Optimization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50"/>
              </a:spcAft>
              <a:defRPr sz="1700">
                <a:solidFill>
                  <a:srgbClr val="333333"/>
                </a:solidFill>
                <a:latin typeface="Microsoft YaHei"/>
              </a:defRPr>
            </a:pPr>
            <a:r>
              <a:t>• Role: Autonomous marketing campaign and budget optimization</a:t>
            </a:r>
          </a:p>
          <a:p>
            <a:pPr>
              <a:spcAft>
                <a:spcPts val="850"/>
              </a:spcAft>
              <a:defRPr sz="1700">
                <a:solidFill>
                  <a:srgbClr val="333333"/>
                </a:solidFill>
                <a:latin typeface="Microsoft YaHei"/>
              </a:defRPr>
            </a:pPr>
            <a:r>
              <a:t>• Tech: Reinforcement learning + A/B testing framework</a:t>
            </a:r>
          </a:p>
          <a:p>
            <a:pPr>
              <a:spcAft>
                <a:spcPts val="850"/>
              </a:spcAft>
              <a:defRPr sz="1700">
                <a:solidFill>
                  <a:srgbClr val="333333"/>
                </a:solidFill>
                <a:latin typeface="Microsoft YaHei"/>
              </a:defRPr>
            </a:pPr>
            <a:r>
              <a:t>• Input: Customer personas + Market trends + Competition</a:t>
            </a:r>
          </a:p>
          <a:p>
            <a:pPr>
              <a:spcAft>
                <a:spcPts val="850"/>
              </a:spcAft>
              <a:defRPr sz="1700">
                <a:solidFill>
                  <a:srgbClr val="333333"/>
                </a:solidFill>
                <a:latin typeface="Microsoft YaHei"/>
              </a:defRPr>
            </a:pPr>
            <a:r>
              <a:t>• Output: Campaign plan + Budget allocation + Effectiveness forecast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554480"/>
            <a:ext cx="5029200" cy="4114800"/>
          </a:xfrm>
          <a:prstGeom prst="roundRect">
            <a:avLst/>
          </a:prstGeom>
          <a:solidFill>
            <a:srgbClr val="E8EEF6"/>
          </a:solidFill>
          <a:ln w="12700">
            <a:solidFill>
              <a:srgbClr val="002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17373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2050"/>
                </a:solidFill>
                <a:latin typeface="Microsoft YaHei"/>
              </a:defRPr>
            </a:pPr>
            <a:r>
              <a:t>Core Capabilities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37744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5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RL: Dynamic marketing strategy adjustment</a:t>
            </a:r>
          </a:p>
          <a:p>
            <a:pPr>
              <a:spcAft>
                <a:spcPts val="75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A/B testing: Data-driven effectiveness validation</a:t>
            </a:r>
          </a:p>
          <a:p>
            <a:pPr>
              <a:spcAft>
                <a:spcPts val="75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Budget optimization: ROI-maximizing allocation</a:t>
            </a:r>
          </a:p>
          <a:p>
            <a:pPr>
              <a:spcAft>
                <a:spcPts val="75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Multi-channel: App/SMS/Social media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Inter-Agent Collaboration Protocol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3474720" cy="4114800"/>
          </a:xfrm>
          <a:prstGeom prst="roundRect">
            <a:avLst/>
          </a:prstGeom>
          <a:solidFill>
            <a:srgbClr val="E8EEF6"/>
          </a:solidFill>
          <a:ln w="12700">
            <a:solidFill>
              <a:srgbClr val="002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2050"/>
                </a:solidFill>
                <a:latin typeface="Microsoft YaHei"/>
              </a:defRPr>
            </a:pPr>
            <a:r>
              <a:t>Synchronous Calls</a:t>
            </a:r>
          </a:p>
        </p:txBody>
      </p:sp>
      <p:sp>
        <p:nvSpPr>
          <p:cNvPr id="7" name="Rectangle 6"/>
          <p:cNvSpPr/>
          <p:nvPr/>
        </p:nvSpPr>
        <p:spPr>
          <a:xfrm>
            <a:off x="1188720" y="2560320"/>
            <a:ext cx="2560320" cy="36576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834640"/>
            <a:ext cx="29260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REST API real-time communication</a:t>
            </a:r>
            <a:br/>
            <a:r>
              <a:t>For scenarios requiring immediate response</a:t>
            </a:r>
            <a:br/>
            <a:r>
              <a:t>E.g., personalized recommendation requests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1828800"/>
            <a:ext cx="3474720" cy="4114800"/>
          </a:xfrm>
          <a:prstGeom prst="roundRect">
            <a:avLst/>
          </a:prstGeom>
          <a:solidFill>
            <a:srgbClr val="E8EEF6"/>
          </a:solidFill>
          <a:ln w="12700">
            <a:solidFill>
              <a:srgbClr val="002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0" y="20116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2050"/>
                </a:solidFill>
                <a:latin typeface="Microsoft YaHei"/>
              </a:defRPr>
            </a:pPr>
            <a:r>
              <a:t>Async Events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0" y="2560320"/>
            <a:ext cx="2560320" cy="36576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0" y="2834640"/>
            <a:ext cx="29260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Event Hubs event-driven</a:t>
            </a:r>
            <a:br/>
            <a:r>
              <a:t>For non-realtime data streams</a:t>
            </a:r>
            <a:br/>
            <a:r>
              <a:t>E.g., inventory updates, price changes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0" y="1828800"/>
            <a:ext cx="3474720" cy="4114800"/>
          </a:xfrm>
          <a:prstGeom prst="roundRect">
            <a:avLst/>
          </a:prstGeom>
          <a:solidFill>
            <a:srgbClr val="E8EEF6"/>
          </a:solidFill>
          <a:ln w="12700">
            <a:solidFill>
              <a:srgbClr val="002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0" y="20116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2050"/>
                </a:solidFill>
                <a:latin typeface="Microsoft YaHei"/>
              </a:defRPr>
            </a:pPr>
            <a:r>
              <a:t>State Sharing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869680" y="2560320"/>
            <a:ext cx="2560320" cy="36576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0" y="2834640"/>
            <a:ext cx="29260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Cosmos DB unified state</a:t>
            </a:r>
            <a:br/>
            <a:r>
              <a:t>Inter-agent shared context</a:t>
            </a:r>
            <a:br/>
            <a:r>
              <a:t>Conflict resolution: Priority + timestamp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Technical Architecture (3 Layers)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515600" cy="146304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6916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Application Layer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31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D700"/>
                </a:solidFill>
                <a:latin typeface="Microsoft YaHei"/>
              </a:defRPr>
            </a:pPr>
            <a:r>
              <a:t>LLM Inference Layer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1691640"/>
            <a:ext cx="5943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Azure AI Foundry + Agent Framework</a:t>
            </a:r>
            <a:br/>
            <a:r>
              <a:t>Azure OpenAI Service</a:t>
            </a:r>
            <a:br/>
            <a:r>
              <a:t>NLU and generation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246120"/>
            <a:ext cx="10515600" cy="1463040"/>
          </a:xfrm>
          <a:prstGeom prst="roundRect">
            <a:avLst/>
          </a:prstGeom>
          <a:solidFill>
            <a:srgbClr val="00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3832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ML 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7947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D700"/>
                </a:solidFill>
                <a:latin typeface="Microsoft YaHei"/>
              </a:defRPr>
            </a:pPr>
            <a:r>
              <a:t>Prediction Model Layer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3383280"/>
            <a:ext cx="5943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Azure ML + Prophet + LSTM</a:t>
            </a:r>
            <a:br/>
            <a:r>
              <a:t>Price elasticity model</a:t>
            </a:r>
            <a:br/>
            <a:r>
              <a:t>Demand forecasting engine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937760"/>
            <a:ext cx="10515600" cy="1463040"/>
          </a:xfrm>
          <a:prstGeom prst="roundRect">
            <a:avLst/>
          </a:prstGeom>
          <a:solidFill>
            <a:srgbClr val="0055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50749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Data Layer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4864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D700"/>
                </a:solidFill>
                <a:latin typeface="Microsoft YaHei"/>
              </a:defRPr>
            </a:pPr>
            <a:r>
              <a:t>Data Foundation Layer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5074920"/>
            <a:ext cx="5943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Microsoft Fabric + Cosmos DB</a:t>
            </a:r>
            <a:br/>
            <a:r>
              <a:t>Event Hubs real-time stream</a:t>
            </a:r>
            <a:br/>
            <a:r>
              <a:t>Data lake + feature store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Azure Technology Stack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303520" cy="1051560"/>
          </a:xfrm>
          <a:prstGeom prst="roundRect">
            <a:avLst/>
          </a:prstGeom>
          <a:solidFill>
            <a:srgbClr val="E8EEF6"/>
          </a:solidFill>
          <a:ln w="12700">
            <a:solidFill>
              <a:srgbClr val="002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64592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2050"/>
                </a:solidFill>
                <a:latin typeface="Microsoft YaHei"/>
              </a:defRPr>
            </a:pPr>
            <a:r>
              <a:t>Azure AI Foundry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Agent Framework unified orchestration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1554480"/>
            <a:ext cx="5303520" cy="1051560"/>
          </a:xfrm>
          <a:prstGeom prst="roundRect">
            <a:avLst/>
          </a:prstGeom>
          <a:solidFill>
            <a:srgbClr val="E8EEF6"/>
          </a:solidFill>
          <a:ln w="12700">
            <a:solidFill>
              <a:srgbClr val="002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164592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2050"/>
                </a:solidFill>
                <a:latin typeface="Microsoft YaHei"/>
              </a:defRPr>
            </a:pPr>
            <a:r>
              <a:t>Azure OpenAI Service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21031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GPT-4o / GPT-4.1 inference engine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788920"/>
            <a:ext cx="5303520" cy="1051560"/>
          </a:xfrm>
          <a:prstGeom prst="roundRect">
            <a:avLst/>
          </a:prstGeom>
          <a:solidFill>
            <a:srgbClr val="E8EEF6"/>
          </a:solidFill>
          <a:ln w="12700">
            <a:solidFill>
              <a:srgbClr val="002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8803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2050"/>
                </a:solidFill>
                <a:latin typeface="Microsoft YaHei"/>
              </a:defRPr>
            </a:pPr>
            <a:r>
              <a:t>Microsoft Fabric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3375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Unified data analytics platform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92240" y="2788920"/>
            <a:ext cx="5303520" cy="1051560"/>
          </a:xfrm>
          <a:prstGeom prst="roundRect">
            <a:avLst/>
          </a:prstGeom>
          <a:solidFill>
            <a:srgbClr val="E8EEF6"/>
          </a:solidFill>
          <a:ln w="12700">
            <a:solidFill>
              <a:srgbClr val="002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60" y="28803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2050"/>
                </a:solidFill>
                <a:latin typeface="Microsoft YaHei"/>
              </a:defRPr>
            </a:pPr>
            <a:r>
              <a:t>Cosmos DB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33375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Globally distributed state storage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023360"/>
            <a:ext cx="5303520" cy="1051560"/>
          </a:xfrm>
          <a:prstGeom prst="roundRect">
            <a:avLst/>
          </a:prstGeom>
          <a:solidFill>
            <a:srgbClr val="E8EEF6"/>
          </a:solidFill>
          <a:ln w="12700">
            <a:solidFill>
              <a:srgbClr val="002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1148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2050"/>
                </a:solidFill>
                <a:latin typeface="Microsoft YaHei"/>
              </a:defRPr>
            </a:pPr>
            <a:r>
              <a:t>Azure API Management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45720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MCP Gateway unified gateway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92240" y="4023360"/>
            <a:ext cx="5303520" cy="1051560"/>
          </a:xfrm>
          <a:prstGeom prst="roundRect">
            <a:avLst/>
          </a:prstGeom>
          <a:solidFill>
            <a:srgbClr val="E8EEF6"/>
          </a:solidFill>
          <a:ln w="12700">
            <a:solidFill>
              <a:srgbClr val="002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0" y="41148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2050"/>
                </a:solidFill>
                <a:latin typeface="Microsoft YaHei"/>
              </a:defRPr>
            </a:pPr>
            <a:r>
              <a:t>Azure ML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45720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Model training and deployment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5257800"/>
            <a:ext cx="5303520" cy="1051560"/>
          </a:xfrm>
          <a:prstGeom prst="roundRect">
            <a:avLst/>
          </a:prstGeom>
          <a:solidFill>
            <a:srgbClr val="E8EEF6"/>
          </a:solidFill>
          <a:ln w="12700">
            <a:solidFill>
              <a:srgbClr val="002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3492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2050"/>
                </a:solidFill>
                <a:latin typeface="Microsoft YaHei"/>
              </a:defRPr>
            </a:pPr>
            <a:r>
              <a:t>Event Hubs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58064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Real-time event stream processing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Asia-Specific Considerations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332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Privacy: PIPL (China) / APPI (Japan) / PDPA (SEA) dynamically adjusted per region</a:t>
            </a:r>
          </a:p>
          <a:p>
            <a:pPr>
              <a:spcAft>
                <a:spcPts val="9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Multilingual: LanguageRouter, native CN/JP/KR/EN support</a:t>
            </a:r>
          </a:p>
          <a:p>
            <a:pPr>
              <a:spcAft>
                <a:spcPts val="9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Synthetic Persona: Solves cold start, no real data needed for modeling</a:t>
            </a:r>
          </a:p>
          <a:p>
            <a:pPr>
              <a:spcAft>
                <a:spcPts val="9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Cultural adaptation: Consumer habits, aesthetics, holiday marketing per market</a:t>
            </a:r>
          </a:p>
          <a:p>
            <a:pPr>
              <a:spcAft>
                <a:spcPts val="9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Data localization: Regional storage meets local regulatory requirements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Asia-Specific Considerations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332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Payment fragmentation: MCP unified gateway for WeChat/Alipay/Line Pay</a:t>
            </a:r>
          </a:p>
          <a:p>
            <a:pPr>
              <a:spcAft>
                <a:spcPts val="9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Urban-rural: StoreStrategy tiered approach, Tier 1 vs lower-tier markets</a:t>
            </a:r>
          </a:p>
          <a:p>
            <a:pPr>
              <a:spcAft>
                <a:spcPts val="9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E-commerce: JD / Tmall / Rakuten / Shopee multi-platform adaptation</a:t>
            </a:r>
          </a:p>
          <a:p>
            <a:pPr>
              <a:spcAft>
                <a:spcPts val="9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Social commerce: Xiaohongshu / Douyin / Instagram content discovery</a:t>
            </a:r>
          </a:p>
          <a:p>
            <a:pPr>
              <a:spcAft>
                <a:spcPts val="9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Logistics: Instant delivery (CN) vs standard delivery (JP/SEA)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Scenario 1 — Cross-Channel Personalization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2050"/>
                </a:solidFill>
                <a:latin typeface="Microsoft YaHei"/>
              </a:defRPr>
            </a:pPr>
            <a:r>
              <a:t>Scenario: Customer browses fleece jacket on App, gets personalized recommendation in-store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560320"/>
            <a:ext cx="2560320" cy="228600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4320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① Customer Understanding Agent</a:t>
            </a:r>
            <a:br/>
            <a:r>
              <a:t>Collects multi-channel behavior data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291840" y="3383280"/>
            <a:ext cx="274320" cy="365760"/>
          </a:xfrm>
          <a:prstGeom prst="rightArrow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566160" y="2560320"/>
            <a:ext cx="2560320" cy="228600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03320" y="274320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② Personalization Agent</a:t>
            </a:r>
            <a:br/>
            <a:r>
              <a:t>Generates personalized recommendations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126480" y="3383280"/>
            <a:ext cx="274320" cy="365760"/>
          </a:xfrm>
          <a:prstGeom prst="rightArrow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0" y="2560320"/>
            <a:ext cx="2560320" cy="228600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274320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③ Store Agent</a:t>
            </a:r>
            <a:br/>
            <a:r>
              <a:t>Pushes outfit suggestions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961120" y="3383280"/>
            <a:ext cx="274320" cy="365760"/>
          </a:xfrm>
          <a:prstGeom prst="rightArrow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235440" y="2560320"/>
            <a:ext cx="2560320" cy="228600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72600" y="274320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④ Marketing Agent</a:t>
            </a:r>
            <a:br/>
            <a:r>
              <a:t>Sends coupons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303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3333"/>
                </a:solidFill>
                <a:latin typeface="Microsoft YaHei"/>
              </a:defRPr>
            </a:pPr>
            <a:r>
              <a:t>Expected Impact: Conversion +35%, AOV +20%, CSAT up to 85%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Scenario 2 — Intelligent Inventory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2050"/>
                </a:solidFill>
                <a:latin typeface="Microsoft YaHei"/>
              </a:defRPr>
            </a:pPr>
            <a:r>
              <a:t>Scenario: During seasonal transition, auto-predict demand and adjust inventory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560320"/>
            <a:ext cx="2560320" cy="228600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4320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① Inventory Agent</a:t>
            </a:r>
            <a:br/>
            <a:r>
              <a:t>Analyzes historical sales + weather data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291840" y="3383280"/>
            <a:ext cx="274320" cy="365760"/>
          </a:xfrm>
          <a:prstGeom prst="rightArrow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566160" y="2560320"/>
            <a:ext cx="2560320" cy="228600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03320" y="274320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② Demand Forecast</a:t>
            </a:r>
            <a:br/>
            <a:r>
              <a:t>7-day sales forecast + safety stock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126480" y="3383280"/>
            <a:ext cx="274320" cy="365760"/>
          </a:xfrm>
          <a:prstGeom prst="rightArrow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0" y="2560320"/>
            <a:ext cx="2560320" cy="228600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274320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③ Auto-Replenishment</a:t>
            </a:r>
            <a:br/>
            <a:r>
              <a:t>Generate replenishment orders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961120" y="3383280"/>
            <a:ext cx="274320" cy="365760"/>
          </a:xfrm>
          <a:prstGeom prst="rightArrow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235440" y="2560320"/>
            <a:ext cx="2560320" cy="228600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72600" y="274320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④ Pricing Agent</a:t>
            </a:r>
            <a:br/>
            <a:r>
              <a:t>Coordinate promotion price adjustments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303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3333"/>
                </a:solidFill>
                <a:latin typeface="Microsoft YaHei"/>
              </a:defRPr>
            </a:pPr>
            <a:r>
              <a:t>Expected Impact: Waste -50%, stockout -60%, turnover +40%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Scenario 3 — Dynamic Pricing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2050"/>
                </a:solidFill>
                <a:latin typeface="Microsoft YaHei"/>
              </a:defRPr>
            </a:pPr>
            <a:r>
              <a:t>Scenario: When competitors cut prices, auto-evaluate and adjust pricing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560320"/>
            <a:ext cx="2560320" cy="228600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4320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① Pricing Agent</a:t>
            </a:r>
            <a:br/>
            <a:r>
              <a:t>Monitors competitor price changes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291840" y="3383280"/>
            <a:ext cx="274320" cy="365760"/>
          </a:xfrm>
          <a:prstGeom prst="rightArrow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566160" y="2560320"/>
            <a:ext cx="2560320" cy="228600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03320" y="274320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② Elasticity Analysis</a:t>
            </a:r>
            <a:br/>
            <a:r>
              <a:t>Price elasticity model evaluates impact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126480" y="3383280"/>
            <a:ext cx="274320" cy="365760"/>
          </a:xfrm>
          <a:prstGeom prst="rightArrow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0" y="2560320"/>
            <a:ext cx="2560320" cy="228600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274320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③ Strategy Generation</a:t>
            </a:r>
            <a:br/>
            <a:r>
              <a:t>Three-Layer Architecture decision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961120" y="3383280"/>
            <a:ext cx="274320" cy="365760"/>
          </a:xfrm>
          <a:prstGeom prst="rightArrow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235440" y="2560320"/>
            <a:ext cx="2560320" cy="228600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72600" y="274320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④ Human Approval</a:t>
            </a:r>
            <a:br/>
            <a:r>
              <a:t>Critical price changes require confirmation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303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3333"/>
                </a:solidFill>
                <a:latin typeface="Microsoft YaHei"/>
              </a:defRPr>
            </a:pPr>
            <a:r>
              <a:t>Expected Impact: Margin +15%, price response from 7 days to 2 hours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Expected Impact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011680"/>
            <a:ext cx="2011680" cy="365760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74320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D700"/>
                </a:solidFill>
                <a:latin typeface="Microsoft YaHei"/>
              </a:defRPr>
            </a:pPr>
            <a:r>
              <a:t>+40%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02336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Microsoft YaHei"/>
              </a:defRPr>
            </a:pPr>
            <a:r>
              <a:t>Same-Store Sales Growth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2011680"/>
            <a:ext cx="2011680" cy="365760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274320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D700"/>
                </a:solidFill>
                <a:latin typeface="Microsoft YaHei"/>
              </a:defRPr>
            </a:pPr>
            <a:r>
              <a:t>-50%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402336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Microsoft YaHei"/>
              </a:defRPr>
            </a:pPr>
            <a:r>
              <a:t>Inventory Waste Reduction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0" y="2011680"/>
            <a:ext cx="2011680" cy="365760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0" y="274320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D700"/>
                </a:solidFill>
                <a:latin typeface="Microsoft YaHei"/>
              </a:defRPr>
            </a:pPr>
            <a:r>
              <a:t>85%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402336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Microsoft YaHei"/>
              </a:defRPr>
            </a:pPr>
            <a:r>
              <a:t>Customer Satisfaction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2011680"/>
            <a:ext cx="2011680" cy="365760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0" y="274320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D700"/>
                </a:solidFill>
                <a:latin typeface="Microsoft YaHei"/>
              </a:defRPr>
            </a:pPr>
            <a:r>
              <a:t>+60%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402336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Microsoft YaHei"/>
              </a:defRPr>
            </a:pPr>
            <a:r>
              <a:t>Customer Lifetime Value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01200" y="2011680"/>
            <a:ext cx="2011680" cy="365760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92640" y="274320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D700"/>
                </a:solidFill>
                <a:latin typeface="Microsoft YaHei"/>
              </a:defRPr>
            </a:pPr>
            <a:r>
              <a:t>35%+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402336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Microsoft YaHei"/>
              </a:defRPr>
            </a:pPr>
            <a:r>
              <a:t>E-commerce Penetration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Implementation Roadmap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3474720" cy="438912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D700"/>
                </a:solidFill>
                <a:latin typeface="Microsoft YaHei"/>
              </a:defRPr>
            </a:pPr>
            <a:r>
              <a:t>Phase 1（3 months）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MVP Validation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1188720" y="3108960"/>
            <a:ext cx="2560320" cy="2743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291840"/>
            <a:ext cx="29260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10-store pilot</a:t>
            </a:r>
            <a:br/>
            <a:r>
              <a:t>Customer Understanding + Personalization</a:t>
            </a:r>
            <a:br/>
            <a:r>
              <a:t>Validate core value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1828800"/>
            <a:ext cx="3474720" cy="4389120"/>
          </a:xfrm>
          <a:prstGeom prst="roundRect">
            <a:avLst/>
          </a:prstGeom>
          <a:solidFill>
            <a:srgbClr val="00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0" y="20116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D700"/>
                </a:solidFill>
                <a:latin typeface="Microsoft YaHei"/>
              </a:defRPr>
            </a:pPr>
            <a:r>
              <a:t>Phase 2（6 months）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56032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Scale Deployment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3108960"/>
            <a:ext cx="2560320" cy="2743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46320" y="3291840"/>
            <a:ext cx="29260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100 stores</a:t>
            </a:r>
            <a:br/>
            <a:r>
              <a:t>Add Inventory + Pricing Agent</a:t>
            </a:r>
            <a:br/>
            <a:r>
              <a:t>Full chain integration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0" y="1828800"/>
            <a:ext cx="3474720" cy="4389120"/>
          </a:xfrm>
          <a:prstGeom prst="roundRect">
            <a:avLst/>
          </a:prstGeom>
          <a:solidFill>
            <a:srgbClr val="0055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0" y="20116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D700"/>
                </a:solidFill>
                <a:latin typeface="Microsoft YaHei"/>
              </a:defRPr>
            </a:pPr>
            <a:r>
              <a:t>Phase 3（12 months）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0" y="256032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Full Omnichannel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69680" y="3108960"/>
            <a:ext cx="2560320" cy="2743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0" y="3291840"/>
            <a:ext cx="29260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Full omnichannel launch</a:t>
            </a:r>
            <a:br/>
            <a:r>
              <a:t>5 Agent full collaboration</a:t>
            </a:r>
            <a:br/>
            <a:r>
              <a:t>Continuous optimization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Risks &amp; Mitigations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029200" cy="1051560"/>
          </a:xfrm>
          <a:prstGeom prst="roundRect">
            <a:avLst/>
          </a:prstGeom>
          <a:solidFill>
            <a:srgbClr val="FFF0F0"/>
          </a:solidFill>
          <a:ln w="12700">
            <a:solidFill>
              <a:srgbClr val="CC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C3333"/>
                </a:solidFill>
                <a:latin typeface="Microsoft YaHei"/>
              </a:defRPr>
            </a:pPr>
            <a:r>
              <a:t>⚠️ Hallucination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LLM generates inaccurate information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303520" cy="1051560"/>
          </a:xfrm>
          <a:prstGeom prst="roundRect">
            <a:avLst/>
          </a:prstGeom>
          <a:solidFill>
            <a:srgbClr val="F0FFF0"/>
          </a:solidFill>
          <a:ln w="12700">
            <a:solidFill>
              <a:srgbClr val="33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64592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9933"/>
                </a:solidFill>
                <a:latin typeface="Microsoft YaHei"/>
              </a:defRPr>
            </a:pPr>
            <a:r>
              <a:t>✅ Mitigation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574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RAG + fact-checking + human review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788920"/>
            <a:ext cx="5029200" cy="1051560"/>
          </a:xfrm>
          <a:prstGeom prst="roundRect">
            <a:avLst/>
          </a:prstGeom>
          <a:solidFill>
            <a:srgbClr val="FFF0F0"/>
          </a:solidFill>
          <a:ln w="12700">
            <a:solidFill>
              <a:srgbClr val="CC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8803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C3333"/>
                </a:solidFill>
                <a:latin typeface="Microsoft YaHei"/>
              </a:defRPr>
            </a:pPr>
            <a:r>
              <a:t>⚠️ Latency Risk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2918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Agent response time too long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2788920"/>
            <a:ext cx="5303520" cy="1051560"/>
          </a:xfrm>
          <a:prstGeom prst="roundRect">
            <a:avLst/>
          </a:prstGeom>
          <a:solidFill>
            <a:srgbClr val="F0FFF0"/>
          </a:solidFill>
          <a:ln w="12700">
            <a:solidFill>
              <a:srgbClr val="33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28803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9933"/>
                </a:solidFill>
                <a:latin typeface="Microsoft YaHei"/>
              </a:defRPr>
            </a:pPr>
            <a:r>
              <a:t>✅ Mitigation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2918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Event-driven + caching + async processing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023360"/>
            <a:ext cx="5029200" cy="1051560"/>
          </a:xfrm>
          <a:prstGeom prst="roundRect">
            <a:avLst/>
          </a:prstGeom>
          <a:solidFill>
            <a:srgbClr val="FFF0F0"/>
          </a:solidFill>
          <a:ln w="12700">
            <a:solidFill>
              <a:srgbClr val="CC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114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C3333"/>
                </a:solidFill>
                <a:latin typeface="Microsoft YaHei"/>
              </a:defRPr>
            </a:pPr>
            <a:r>
              <a:t>⚠️ Cost Risk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526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API call costs too high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4023360"/>
            <a:ext cx="5303520" cy="1051560"/>
          </a:xfrm>
          <a:prstGeom prst="roundRect">
            <a:avLst/>
          </a:prstGeom>
          <a:solidFill>
            <a:srgbClr val="F0FFF0"/>
          </a:solidFill>
          <a:ln w="12700">
            <a:solidFill>
              <a:srgbClr val="33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41148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9933"/>
                </a:solidFill>
                <a:latin typeface="Microsoft YaHei"/>
              </a:defRPr>
            </a:pPr>
            <a:r>
              <a:t>✅ Mitigation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45262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Small models for simple tasks + caching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5257800"/>
            <a:ext cx="5029200" cy="1051560"/>
          </a:xfrm>
          <a:prstGeom prst="roundRect">
            <a:avLst/>
          </a:prstGeom>
          <a:solidFill>
            <a:srgbClr val="FFF0F0"/>
          </a:solidFill>
          <a:ln w="12700">
            <a:solidFill>
              <a:srgbClr val="CC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3492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C3333"/>
                </a:solidFill>
                <a:latin typeface="Microsoft YaHei"/>
              </a:defRPr>
            </a:pPr>
            <a:r>
              <a:t>⚠️ Compliance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7607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Data privacy regulation violations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5257800"/>
            <a:ext cx="5303520" cy="1051560"/>
          </a:xfrm>
          <a:prstGeom prst="roundRect">
            <a:avLst/>
          </a:prstGeom>
          <a:solidFill>
            <a:srgbClr val="F0FFF0"/>
          </a:solidFill>
          <a:ln w="12700">
            <a:solidFill>
              <a:srgbClr val="33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53492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9933"/>
                </a:solidFill>
                <a:latin typeface="Microsoft YaHei"/>
              </a:defRPr>
            </a:pPr>
            <a:r>
              <a:t>✅ Mitigation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76072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Synthetic Persona + data localization + audit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Cost Estimation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D700"/>
                </a:solidFill>
                <a:latin typeface="Microsoft YaHei"/>
              </a:defRPr>
            </a:pPr>
            <a:r>
              <a:t>Prototype Phase Monthly Cost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286000" y="1828800"/>
          <a:ext cx="758952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9840"/>
                <a:gridCol w="2529840"/>
                <a:gridCol w="2529840"/>
              </a:tblGrid>
              <a:tr h="60960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Service</a:t>
                      </a:r>
                    </a:p>
                  </a:txBody>
                  <a:tcPr>
                    <a:solidFill>
                      <a:srgbClr val="002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Monthly Cost</a:t>
                      </a:r>
                    </a:p>
                  </a:txBody>
                  <a:tcPr>
                    <a:solidFill>
                      <a:srgbClr val="002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002050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333333"/>
                          </a:solidFill>
                        </a:defRPr>
                      </a:pPr>
                      <a:r>
                        <a:t>Azure OpenAI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333333"/>
                          </a:solidFill>
                        </a:defRPr>
                      </a:pPr>
                      <a:r>
                        <a:t>~$500/mo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333333"/>
                          </a:solidFill>
                        </a:defRPr>
                      </a:pPr>
                      <a:r>
                        <a:t>GPT-4o inference calls</a:t>
                      </a:r>
                    </a:p>
                  </a:txBody>
                  <a:tcPr/>
                </a:tc>
              </a:tr>
              <a:tr h="609600"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333333"/>
                          </a:solidFill>
                        </a:defRPr>
                      </a:pPr>
                      <a:r>
                        <a:t>Cosmos DB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333333"/>
                          </a:solidFill>
                        </a:defRPr>
                      </a:pPr>
                      <a:r>
                        <a:t>~$200/mo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333333"/>
                          </a:solidFill>
                        </a:defRPr>
                      </a:pPr>
                      <a:r>
                        <a:t>Globally distributed storage</a:t>
                      </a:r>
                    </a:p>
                  </a:txBody>
                  <a:tcPr/>
                </a:tc>
              </a:tr>
              <a:tr h="609600"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333333"/>
                          </a:solidFill>
                        </a:defRPr>
                      </a:pPr>
                      <a:r>
                        <a:t>Azure 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333333"/>
                          </a:solidFill>
                        </a:defRPr>
                      </a:pPr>
                      <a:r>
                        <a:t>~$300/mo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333333"/>
                          </a:solidFill>
                        </a:defRPr>
                      </a:pPr>
                      <a:r>
                        <a:t>Model training and deployment</a:t>
                      </a:r>
                    </a:p>
                  </a:txBody>
                  <a:tcPr/>
                </a:tc>
              </a:tr>
              <a:tr h="609600"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333333"/>
                          </a:solidFill>
                        </a:defRPr>
                      </a:pPr>
                      <a:r>
                        <a:t>Other Services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333333"/>
                          </a:solidFill>
                        </a:defRPr>
                      </a:pPr>
                      <a:r>
                        <a:t>~$200/mo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333333"/>
                          </a:solidFill>
                        </a:defRPr>
                      </a:pPr>
                      <a:r>
                        <a:t>Event Hubs / APIM / Fabric</a:t>
                      </a:r>
                    </a:p>
                  </a:txBody>
                  <a:tcPr/>
                </a:tc>
              </a:tr>
              <a:tr h="60960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02050"/>
                          </a:solidFill>
                        </a:defRPr>
                      </a:pPr>
                      <a:r>
                        <a:t>Total</a:t>
                      </a:r>
                    </a:p>
                  </a:txBody>
                  <a:tcPr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02050"/>
                          </a:solidFill>
                        </a:defRPr>
                      </a:pPr>
                      <a:r>
                        <a:t>~$1,300/mo</a:t>
                      </a:r>
                    </a:p>
                  </a:txBody>
                  <a:tcPr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02050"/>
                          </a:solidFill>
                        </a:defRPr>
                      </a:pPr>
                      <a:r>
                        <a:t>Prototype phase estimate</a:t>
                      </a:r>
                    </a:p>
                  </a:txBody>
                  <a:tcPr>
                    <a:solidFill>
                      <a:srgbClr val="FFD700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286000" y="5669280"/>
            <a:ext cx="7589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  <a:latin typeface="Microsoft YaHei"/>
              </a:defRPr>
            </a:pPr>
            <a:r>
              <a:t>Note: Production costs scale linearly with stores, expected ROI &gt; 10x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332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Microsoft YaHei"/>
              </a:defRPr>
            </a:pPr>
            <a:r>
              <a:t> ✓  5 Agents solve 4 core retail pain points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Microsoft YaHei"/>
              </a:defRPr>
            </a:pPr>
            <a:r>
              <a:t> ✓  Azure full-stack, enterprise-grade security and scalability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Microsoft YaHei"/>
              </a:defRPr>
            </a:pPr>
            <a:r>
              <a:t> ✓  Deep Asia market adaptation, differentiated advantage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Microsoft YaHei"/>
              </a:defRPr>
            </a:pPr>
            <a:r>
              <a:t> ✓  Executable 3-phase roadmap, risk-controlled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Microsoft YaHei"/>
              </a:defRPr>
            </a:pPr>
            <a:r>
              <a:t> ✓  Expected ROI &gt; 10x, validate in 3 months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4754880"/>
            <a:ext cx="10332720" cy="137160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4937760"/>
            <a:ext cx="97840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Microsoft YaHei"/>
              </a:defRPr>
            </a:pPr>
            <a:r>
              <a:t>Project 46 is not just a technical solution, but a paradigm shift in retail digital transformation.</a:t>
            </a:r>
            <a:br/>
            <a:r>
              <a:t>Through AI Agent collaboration, move Uniqlo from experience-driven to data-intelligence-driven.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0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  <a:latin typeface="Microsoft YaHei"/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FFD700"/>
                </a:solidFill>
                <a:latin typeface="Microsoft YaHei"/>
              </a:defRPr>
            </a:pPr>
            <a:r>
              <a:t>Thank You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0" y="4114800"/>
            <a:ext cx="3017520" cy="36576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20"/>
              </a:spcAft>
              <a:defRPr sz="1800" b="0">
                <a:solidFill>
                  <a:srgbClr val="CCCCCC"/>
                </a:solidFill>
                <a:latin typeface="Microsoft YaHei"/>
              </a:defRPr>
            </a:pPr>
            <a:r>
              <a:t>Q &amp; A</a:t>
            </a:r>
          </a:p>
          <a:p>
            <a:pPr algn="ctr">
              <a:spcAft>
                <a:spcPts val="720"/>
              </a:spcAft>
              <a:defRPr sz="1800" b="0">
                <a:solidFill>
                  <a:srgbClr val="CCCCCC"/>
                </a:solidFill>
                <a:latin typeface="Microsoft YaHei"/>
              </a:defRPr>
            </a:pPr>
          </a:p>
          <a:p>
            <a:pPr algn="ctr">
              <a:spcAft>
                <a:spcPts val="720"/>
              </a:spcAft>
              <a:defRPr sz="1800" b="0">
                <a:solidFill>
                  <a:srgbClr val="CCCCCC"/>
                </a:solidFill>
                <a:latin typeface="Microsoft YaHei"/>
              </a:defRPr>
            </a:pPr>
            <a:r>
              <a:t>Presenter: Yuan Wang  |  Senior Solution Engineer, CAIP</a:t>
            </a:r>
          </a:p>
          <a:p>
            <a:pPr algn="ctr">
              <a:spcAft>
                <a:spcPts val="720"/>
              </a:spcAft>
              <a:defRPr sz="1800" b="0">
                <a:solidFill>
                  <a:srgbClr val="CCCCCC"/>
                </a:solidFill>
                <a:latin typeface="Microsoft YaHei"/>
              </a:defRPr>
            </a:pPr>
            <a:r>
              <a:t>Project 46 — Autonomous Retail Intelligence Agent Platform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