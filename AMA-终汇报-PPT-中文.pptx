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002050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73152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914400" y="1645920"/><a:ext cx="10332720" cy="1097280"/></a:xfrm><a:prstGeom prst="rect"><a:avLst/></a:prstGeom><a:noFill/></p:spPr><p:txBody><a:bodyPr wrap="square"><a:spAutoFit/></a:bodyPr><a:lstStyle/><a:p><a:pPr algn="ctr"><a:defRPr sz="4200" b="1"><a:solidFill><a:srgbClr val="FFFFFF"/></a:solidFill><a:latin typeface="Microsoft YaHei"/></a:defRPr></a:pPr><a:r><a:t>Autonomous Retail Intelligence</a:t></a:r><a:br/><a:r><a:t>Agent Platform</a:t></a:r></a:p></p:txBody></p:sp><p:sp><p:nvSpPr><p:cNvPr id="4" name="TextBox 3"/><p:cNvSpPr txBox="1"/><p:nvPr/></p:nvSpPr><p:spPr><a:xfrm><a:off x="914400" y="3017520"/><a:ext cx="10332720" cy="731520"/></a:xfrm><a:prstGeom prst="rect"><a:avLst/></a:prstGeom><a:noFill/></p:spPr><p:txBody><a:bodyPr wrap="square"><a:spAutoFit/></a:bodyPr><a:lstStyle/><a:p><a:pPr algn="ctr"><a:defRPr sz="2400" b="0"><a:solidFill><a:srgbClr val="FFD700"/></a:solidFill><a:latin typeface="Microsoft YaHei"/></a:defRPr></a:pPr><a:r><a:t>基于优衣库的多 Agent 智能零售平台</a:t></a:r></a:p></p:txBody></p:sp><p:sp><p:nvSpPr><p:cNvPr id="5" name="Rectangle 4"/><p:cNvSpPr/><p:nvPr/></p:nvSpPr><p:spPr><a:xfrm><a:off x="4572000" y="3931920"/><a:ext cx="3017520" cy="36576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6" name="TextBox 5"/><p:cNvSpPr txBox="1"/><p:nvPr/></p:nvSpPr><p:spPr><a:xfrm><a:off x="914400" y="4389120"/><a:ext cx="10332720" cy="1371600"/></a:xfrm><a:prstGeom prst="rect"><a:avLst/></a:prstGeom><a:noFill/></p:spPr><p:txBody><a:bodyPr wrap="square"><a:spAutoFit/></a:bodyPr><a:lstStyle/><a:p><a:pPr algn="ctr"><a:spcAft><a:spcPts val="720"/></a:spcAft><a:defRPr sz="1800" b="0"><a:solidFill><a:srgbClr val="CCCCCC"/></a:solidFill><a:latin typeface="Microsoft YaHei"/></a:defRPr></a:pPr><a:r><a:t>汇报人：圆子  Senior Solution Engineer, Azure & AI Platform</a:t></a:r></a:p><a:p><a:pPr algn="ctr"><a:spcAft><a:spcPts val="720"/></a:spcAft><a:defRPr sz="1800" b="0"><a:solidFill><a:srgbClr val="CCCCCC"/></a:solidFill><a:latin typeface="Microsoft YaHei"/></a:defRPr></a:pPr><a:r><a:t>AMA Capstone Project  |  Project 46</a:t></a:r></a:p></p:txBody></p:sp><p:sp><p:nvSpPr><p:cNvPr id="7" name="Rectangle 6"/><p:cNvSpPr/><p:nvPr/></p:nvSpPr><p:spPr><a:xfrm><a:off x="0" y="6784848"/><a:ext cx="12191695" cy="73152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/p:spTree></p:cSld><p:clrMapOvr><a:masterClrMapping/></p:clrMapOvr>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719072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554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项目背景与挑战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2996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194559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029967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解决方案概述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0545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670048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50545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5 Agent 架构设计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8094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145536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98094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564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621024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4564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亚洲特殊性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4096512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3931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业务场景演示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074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4572000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44074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预期效果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8289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5047488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488289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实施路径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35838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5522976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535838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风险与应对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8338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5998464"/>
            <a:ext cx="109728" cy="10972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58338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Q&amp;A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全球零售业面临数字化转型挑战，传统模式难以为继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优衣库（迅销集团）：全球 3,500+ 门店，年产量 13 亿件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核心痛点：数据孤岛 → 各渠道数据无法打通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核心痛点：个性化不足 → 千篇一律的客户体验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核心痛点：库存浪费 → 行业平均库存浪费率超 30%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核心痛点：定价滞后 → 无法快速响应市场变化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业务挑战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数据分散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客户数据分散在 App、门店、电商、社交媒体等多个触点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库存浪费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行业平均库存浪费率 30%+，每年数十亿美元损失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定价滞后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定价策略无法实时响应市场变化和竞争动态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营销低效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营销活动缺乏精准触达，ROI 难以衡量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解决方案概述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5 个 AI Agent 协同工作，覆盖零售全链路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统一客户数据平台，打通 App / 门店 / 电商 / 社交媒体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自主决策 + 人工审批，兼顾效率与风控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Azure 全栈技术支撑，企业级安全与可扩展性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亚洲市场特殊性深度适配（隐私、支付、电商生态）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5 Agent 架构设计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Customer</a:t>
            </a:r>
            <a:br/>
            <a:r>
              <a:t>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客户理解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Personalization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个性化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库存管理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动态定价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营销优化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68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754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040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9326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数据流：Customer Understanding → Personalization → Inventory / Pricing / Marketing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协作模式：同步调用（REST API）+ 异步事件（Event Hubs）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状态共享：Cosmos DB 统一状态管理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Customer Understanding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构建 360° 客户视图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职责：构建 360° 客户视图，统一多渠道数据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技术：合成 Persona + Agent Memory + 向量搜索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输入：App 行为 / 门店 RFID / 电商订单 / 会员数据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输出：统一客户画像 + 行为预测 + 流失预警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合成 Persona 解决冷启动问题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Agent Memory 实现跨会话记忆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向量搜索实现语义级客户匹配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实时行为追踪与预测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Personalization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跨渠道千人千面推荐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职责：跨渠道千人千面个性化推荐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技术：U-A-L 三支柱 + Hybrid AI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输入：客户画像 + 实时行为 + 库存数据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输出：个性化推荐 + 下一步最佳行动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U-A-L 三支柱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Understanding：深度理解客户意图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Action：智能推荐下一步行动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Learning：持续学习优化推荐效果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Hybrid AI：规则引擎 + 深度学习融合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Inventory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需求预测 + 自动补货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职责：需求预测 + 自动补货决策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技术：Prophet + LSTM 混合预测模型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输入：历史销售 / 天气 / 促销 / 竞争数据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输出：7 天需求预测 + 智能补货建议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预测模型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Prophet：捕获季节性和趋势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LSTM：学习复杂非线性模式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混合模型：兼顾精度与可解释性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实时调整：天气/事件触发重预测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Pricing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动态定价最大化利润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职责：动态定价，最大化利润与周转率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技术：TT203 三层架构（Data → ML → LLM）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核心：价格弹性线性回归模型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输出：最优价格 + 利润影响预测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TT203 三层架构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Data Layer：清洗、聚合、特征工程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ML Layer：价格弹性建模与优化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LLM Layer：自然语言解释定价逻辑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人工审批：关键价格变动需确认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Marketing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自主营销活动 + 预算优化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职责：自主营销活动策划与预算优化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技术：强化学习 + A/B 测试框架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输入：客户画像 + 市场趋势 + 竞品动态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输出：活动计划 + 预算分配 + 效果预测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强化学习：动态调整营销策略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A/B 测试：数据驱动的效果验证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预算优化：ROI 最大化分配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多渠道协同：App/短信/社交媒体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Agent 间协作协议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2050"/>
                </a:solidFill>
                <a:latin typeface="Microsoft YaHei"/>
              </a:defRPr>
            </a:pPr>
            <a:r>
              <a:t>同步调用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560320"/>
            <a:ext cx="2560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REST API 实时通信</a:t>
            </a:r>
            <a:br/>
            <a:r>
              <a:t>适用于需要即时响应的场景</a:t>
            </a:r>
            <a:br/>
            <a:r>
              <a:t>如：个性化推荐请求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2050"/>
                </a:solidFill>
                <a:latin typeface="Microsoft YaHei"/>
              </a:defRPr>
            </a:pPr>
            <a:r>
              <a:t>异步事件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560320"/>
            <a:ext cx="2560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8346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Event Hubs 事件驱动</a:t>
            </a:r>
            <a:br/>
            <a:r>
              <a:t>适用于非实时数据流</a:t>
            </a:r>
            <a:br/>
            <a:r>
              <a:t>如：库存更新、价格变动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34747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2050"/>
                </a:solidFill>
                <a:latin typeface="Microsoft YaHei"/>
              </a:defRPr>
            </a:pPr>
            <a:r>
              <a:t>状态共享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560320"/>
            <a:ext cx="2560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8346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Cosmos DB 统一状态</a:t>
            </a:r>
            <a:br/>
            <a:r>
              <a:t>Agent 间共享上下文</a:t>
            </a:r>
            <a:br/>
            <a:r>
              <a:t>冲突解决：优先级 + 时间戳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技术架构（三层）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46304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Application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LLM 推理层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9164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Azure AI Foundry + Agent Framework</a:t>
            </a:r>
            <a:br/>
            <a:r>
              <a:t>Azure OpenAI Service</a:t>
            </a:r>
            <a:br/>
            <a:r>
              <a:t>自然语言理解与生成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515600" cy="1463040"/>
          </a:xfrm>
          <a:prstGeom prst="round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ML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预测模型层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38328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Azure ML + Prophet + LSTM</a:t>
            </a:r>
            <a:br/>
            <a:r>
              <a:t>价格弹性模型</a:t>
            </a:r>
            <a:br/>
            <a:r>
              <a:t>需求预测引擎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515600" cy="1463040"/>
          </a:xfrm>
          <a:prstGeom prst="round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数据基础层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Microsoft Fabric + Cosmos DB</a:t>
            </a:r>
            <a:br/>
            <a:r>
              <a:t>Event Hubs 实时流</a:t>
            </a:r>
            <a:br/>
            <a:r>
              <a:t>数据湖 + 特征存储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Azure 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AI Foundry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Agent Framework 统一编排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OpenAI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GPT-4o / GPT-4.1 推理引擎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Microsoft Fabric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统一数据分析平台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78892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Cosmos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全球分布式状态存储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API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MCP Gateway 统一网关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02336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模型训练与部署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Event Hubs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实时事件流处理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亚洲特殊性（1/2）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隐私合规：PIPL（中国）/ APPI（日本）/ PDPA（东南亚）按区域动态调整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多语言支持：LanguageRouter 架构，原生支持中 / 日 / 韩 / 英四语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合成 Persona：解决新市场冷启动问题，无需真实数据即可建模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文化适配：不同市场的消费习惯、审美偏好、节日营销差异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数据本地化：各区域数据存储满足当地法规要求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亚洲特殊性（2/2）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支付碎片化：MCP 统一支付网关，适配微信/支付宝/Line Pay 等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城乡差异：StoreStrategy 分级策略，一线城市 vs 下沉市场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电商生态：京东 / 天猫 / 乐天 / Shopee 多平台适配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社交电商：小红书 / 抖音 / Instagram 内容种草链路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物流差异：即时配送（中国）vs 标准配送（日本/东南亚）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业务场景 1 — 跨渠道个性化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场景：客户在 App 浏览了摇粒绒外套，到店后收到个性化推荐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Customer Understanding Agent</a:t>
            </a:r>
            <a:br/>
            <a:r>
              <a:t>收集多渠道行为数据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Personalization Agent</a:t>
            </a:r>
            <a:br/>
            <a:r>
              <a:t>生成个性化推荐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门店 Agent</a:t>
            </a:r>
            <a:br/>
            <a:r>
              <a:t>推送搭配建议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④ Marketing Agent</a:t>
            </a:r>
            <a:br/>
            <a:r>
              <a:t>发送优惠券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预期效果：转化率提升 35%，客单价提升 20%，客户满意度提升至 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业务场景 2 — 智能库存管理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场景：季节交替时，自动预测需求并调整库存分配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Inventory Agent</a:t>
            </a:r>
            <a:br/>
            <a:r>
              <a:t>分析历史销售 + 天气数据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需求预测</a:t>
            </a:r>
            <a:br/>
            <a:r>
              <a:t>7 天销量预测 + 安全库存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自动补货</a:t>
            </a:r>
            <a:br/>
            <a:r>
              <a:t>生成补货订单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④ Pricing Agent</a:t>
            </a:r>
            <a:br/>
            <a:r>
              <a:t>联动调整促销价格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预期效果：库存浪费减少 50%，缺货率降低 60%，周转率提升 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业务场景 3 — 动态定价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场景：竞品降价时，自动评估并调整价格策略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Pricing Agent</a:t>
            </a:r>
            <a:br/>
            <a:r>
              <a:t>监控竞品价格变动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弹性分析</a:t>
            </a:r>
            <a:br/>
            <a:r>
              <a:t>价格弹性模型评估影响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策略生成</a:t>
            </a:r>
            <a:br/>
            <a:r>
              <a:t>TT203 三层架构决策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④ 人工审批</a:t>
            </a:r>
            <a:br/>
            <a:r>
              <a:t>关键价格变动需确认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预期效果：利润率提升 15%，价格响应时间从 7 天缩短至 2 小时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预期效果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+40%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同店销售增长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-50%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库存浪费降低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客户满意度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+60%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客户终身价值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35%+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电商渗透率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实施路径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Phase 1（3 个月）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MVP 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25603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10 家门店试点</a:t>
            </a:r>
            <a:br/>
            <a:r>
              <a:t>Customer Understanding + Personalization</a:t>
            </a:r>
            <a:br/>
            <a:r>
              <a:t>验证核心价值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474720" cy="4389120"/>
          </a:xfrm>
          <a:prstGeom prst="round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Phase 2（6 个月）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规模扩展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108960"/>
            <a:ext cx="25603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100 家门店</a:t>
            </a:r>
            <a:br/>
            <a:r>
              <a:t>加入 Inventory + Pricing Agent</a:t>
            </a:r>
            <a:br/>
            <a:r>
              <a:t>全链路打通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828800"/>
            <a:ext cx="3474720" cy="4389120"/>
          </a:xfrm>
          <a:prstGeom prst="round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Phase 3（12 个月）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全渠道覆盖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3108960"/>
            <a:ext cx="25603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全渠道上线</a:t>
            </a:r>
            <a:br/>
            <a:r>
              <a:t>5 Agent 完整协同</a:t>
            </a:r>
            <a:br/>
            <a:r>
              <a:t>持续优化迭代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风险与应对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105156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Microsoft YaHei"/>
              </a:defRPr>
            </a:pPr>
            <a:r>
              <a:t>⚠️ 幻觉风险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LLM 生成不准确信息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105156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33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933"/>
                </a:solidFill>
                <a:latin typeface="Microsoft YaHei"/>
              </a:defRPr>
            </a:pPr>
            <a:r>
              <a:t>✅ 应对方案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RAG + 事实检查 + 人工审核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029200" cy="105156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Microsoft YaHei"/>
              </a:defRPr>
            </a:pPr>
            <a:r>
              <a:t>⚠️ 延迟风险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Agent 响应时间过长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88920"/>
            <a:ext cx="5303520" cy="105156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33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933"/>
                </a:solidFill>
                <a:latin typeface="Microsoft YaHei"/>
              </a:defRPr>
            </a:pPr>
            <a:r>
              <a:t>✅ 应对方案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事件驱动 + 缓存 + 异步处理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029200" cy="105156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Microsoft YaHei"/>
              </a:defRPr>
            </a:pPr>
            <a:r>
              <a:t>⚠️ 成本风险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API 调用费用过高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5303520" cy="105156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33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933"/>
                </a:solidFill>
                <a:latin typeface="Microsoft YaHei"/>
              </a:defRPr>
            </a:pPr>
            <a:r>
              <a:t>✅ 应对方案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26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小模型处理简单任务 + 缓存策略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5029200" cy="105156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Microsoft YaHei"/>
              </a:defRPr>
            </a:pPr>
            <a:r>
              <a:t>⚠️ 合规风险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数据隐私法规违规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257800"/>
            <a:ext cx="5303520" cy="105156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33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9933"/>
                </a:solidFill>
                <a:latin typeface="Microsoft YaHei"/>
              </a:defRPr>
            </a:pPr>
            <a:r>
              <a:t>✅ 应对方案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60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合成 Persona + 数据本地化 + 审计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成本估算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原型阶段月度成本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1828800"/>
          <a:ext cx="7589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/>
                <a:gridCol w="2529840"/>
                <a:gridCol w="252984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服务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月度成本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Azure 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~$500/月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GPT-4o 推理调用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Cosmos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~$200/月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全球分布式存储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Azure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~$300/月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模型训练与部署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其他服务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~$200/月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Event Hubs / APIM / Fabric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2050"/>
                          </a:solidFill>
                        </a:defRPr>
                      </a:pPr>
                      <a:r>
                        <a:t>总计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2050"/>
                          </a:solidFill>
                        </a:defRPr>
                      </a:pPr>
                      <a:r>
                        <a:t>~$1,300/月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2050"/>
                          </a:solidFill>
                        </a:defRPr>
                      </a:pPr>
                      <a:r>
                        <a:t>原型阶段预估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0" y="56692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注：生产环境成本将随门店规模线性扩展，预计 ROI &gt; 10x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5 Agent 协同解决零售业四大核心痛点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Azure 全栈技术支撑，企业级安全与可扩展性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亚洲市场特殊性深度适配，差异化竞争优势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可落地的三阶段实施路径，风险可控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预期 ROI &gt; 10x，3 个月内验证核心价值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93776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Project 46 不仅是一个技术方案，更是零售业数字化转型的范式革新。</a:t>
            </a:r>
            <a:br/>
            <a:r>
              <a:t>通过 AI Agent 协同，让优衣库从「经验驱动」迈向「数据智能驱动」。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002050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73152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914400" y="1828800"/><a:ext cx="10332720" cy="1371600"/></a:xfrm><a:prstGeom prst="rect"><a:avLst/></a:prstGeom><a:noFill/></p:spPr><p:txBody><a:bodyPr wrap="square"><a:spAutoFit/></a:bodyPr><a:lstStyle/><a:p><a:pPr algn="ctr"><a:defRPr sz="5200" b="1"><a:solidFill><a:srgbClr val="FFFFFF"/></a:solidFill><a:latin typeface="Microsoft YaHei"/></a:defRPr></a:pPr><a:r><a:t>Thank You</a:t></a:r></a:p></p:txBody></p:sp><p:sp><p:nvSpPr><p:cNvPr id="4" name="TextBox 3"/><p:cNvSpPr txBox="1"/><p:nvPr/></p:nvSpPr><p:spPr><a:xfrm><a:off x="914400" y="3200400"/><a:ext cx="10332720" cy="731520"/></a:xfrm><a:prstGeom prst="rect"><a:avLst/></a:prstGeom><a:noFill/></p:spPr><p:txBody><a:bodyPr wrap="square"><a:spAutoFit/></a:bodyPr><a:lstStyle/><a:p><a:pPr algn="ctr"><a:defRPr sz="3200" b="0"><a:solidFill><a:srgbClr val="FFD700"/></a:solidFill><a:latin typeface="Microsoft YaHei"/></a:defRPr></a:pPr><a:r><a:t>谢谢</a:t></a:r></a:p></p:txBody></p:sp><p:sp><p:nvSpPr><p:cNvPr id="5" name="Rectangle 4"/><p:cNvSpPr/><p:nvPr/></p:nvSpPr><p:spPr><a:xfrm><a:off x="4572000" y="4114800"/><a:ext cx="3017520" cy="36576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6" name="TextBox 5"/><p:cNvSpPr txBox="1"/><p:nvPr/></p:nvSpPr><p:spPr><a:xfrm><a:off x="914400" y="4572000"/><a:ext cx="10332720" cy="1371600"/></a:xfrm><a:prstGeom prst="rect"><a:avLst/></a:prstGeom><a:noFill/></p:spPr><p:txBody><a:bodyPr wrap="square"><a:spAutoFit/></a:bodyPr><a:lstStyle/><a:p><a:pPr algn="ctr"><a:spcAft><a:spcPts val="720"/></a:spcAft><a:defRPr sz="1800" b="0"><a:solidFill><a:srgbClr val="CCCCCC"/></a:solidFill><a:latin typeface="Microsoft YaHei"/></a:defRPr></a:pPr><a:r><a:t>Q &amp; A</a:t></a:r></a:p><a:p><a:pPr algn="ctr"><a:spcAft><a:spcPts val="720"/></a:spcAft><a:defRPr sz="1800" b="0"><a:solidFill><a:srgbClr val="CCCCCC"/></a:solidFill><a:latin typeface="Microsoft YaHei"/></a:defRPr></a:pPr></a:p><a:p><a:pPr algn="ctr"><a:spcAft><a:spcPts val="720"/></a:spcAft><a:defRPr sz="1800" b="0"><a:solidFill><a:srgbClr val="CCCCCC"/></a:solidFill><a:latin typeface="Microsoft YaHei"/></a:defRPr></a:pPr><a:r><a:t>汇报人：圆子  Senior Solution Engineer, Azure & AI Platform</a:t></a:r></a:p><a:p><a:pPr algn="ctr"><a:spcAft><a:spcPts val="720"/></a:spcAft><a:defRPr sz="1800" b="0"><a:solidFill><a:srgbClr val="CCCCCC"/></a:solidFill><a:latin typeface="Microsoft YaHei"/></a:defRPr></a:pPr><a:r><a:t>Project 46 — Autonomous Retail Intelligence Agent Platform</a:t></a:r></a:p></p:txBody></p:sp><p:sp><p:nvSpPr><p:cNvPr id="7" name="Rectangle 6"/><p:cNvSpPr/><p:nvPr/></p:nvSpPr><p:spPr><a:xfrm><a:off x="0" y="6784848"/><a:ext cx="12191695" cy="73152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